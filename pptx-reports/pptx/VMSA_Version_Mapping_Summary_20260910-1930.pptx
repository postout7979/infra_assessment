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A580C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9770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6A34A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44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1E293B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1E2A5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848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60">
                <a:solidFill>
                  <a:srgbClr val="BFD1F7"/>
                </a:solidFill>
                <a:latin typeface="Segoe UI"/>
              </a:rPr>
              <a:t>PATCH &amp; VULNERABILITY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7848295" cy="42062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VMSA Advisory &amp; Version Mapping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68096"/>
            <a:ext cx="7848295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6E0F5"/>
                </a:solidFill>
                <a:latin typeface="Segoe UI"/>
              </a:rPr>
              <a:t>Environment-matched VMware Security Advisories for the assessed vCenter/ESXi 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9775" y="132588"/>
            <a:ext cx="3520440" cy="786384"/>
          </a:xfrm>
          <a:prstGeom prst="roundRect">
            <a:avLst>
              <a:gd name="adj" fmla="val 18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06079" y="205740"/>
            <a:ext cx="3227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Generated: 2026-09-10 19:30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Environment targets: 4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Source: VMware Security Advisories (VMSA)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17320"/>
            <a:ext cx="2120127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ADVISORIES MATCHED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Segoe UI"/>
              </a:rPr>
              <a:t>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4487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32775" y="1417320"/>
            <a:ext cx="2120127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2503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2503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DC2626"/>
                </a:solidFill>
                <a:latin typeface="Segoe UI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7495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5783" y="1417320"/>
            <a:ext cx="2120127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5511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IMPORTANT / 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5511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EA580C"/>
                </a:solidFill>
                <a:latin typeface="Segoe UI"/>
              </a:rPr>
              <a:t>44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0503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8791" y="1417320"/>
            <a:ext cx="212012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8519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UNIQUE CVES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8519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563EB"/>
                </a:solidFill>
                <a:latin typeface="Segoe UI"/>
              </a:rPr>
              <a:t>176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23511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1799" y="1417320"/>
            <a:ext cx="2120127" cy="5486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1527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ENVIRONMENT TARGETS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1527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834640"/>
            <a:ext cx="11368735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834640"/>
            <a:ext cx="64008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29535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EXECUTIVE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82 VMSA advisories match this environment's assessed versions, covering 176 unique CVE(s). 20 are Critical and 44 are Important/High severity - these should be prioritized for the next patch cycle.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3977639"/>
            <a:ext cx="113687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Segoe UI"/>
              </a:rPr>
              <a:t>Severity Breakdown by Detected Category / Version (vCenter / ESX only)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4270247"/>
          <a:ext cx="11368732" cy="2084833"/>
        </p:xfrm>
        <a:graphic>
          <a:graphicData uri="http://schemas.openxmlformats.org/drawingml/2006/table">
            <a:tbl>
              <a:tblPr firstRow="0" bandRow="0"/>
              <a:tblGrid>
                <a:gridCol w="1870804"/>
                <a:gridCol w="3741608"/>
                <a:gridCol w="1439080"/>
                <a:gridCol w="1439080"/>
                <a:gridCol w="1439080"/>
                <a:gridCol w="1439080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vCenter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8.0.3 (build 25413364)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A580C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9770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4748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694945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ESX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25429389) - 6 host(s)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A580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D9770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64748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Advisory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Severity distribution across matched advisories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987552"/>
          <a:ext cx="42062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987552"/>
            <a:ext cx="6842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Advisories by Environment Target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298448"/>
          <a:ext cx="6842454" cy="2377440"/>
        </p:xfrm>
        <a:graphic>
          <a:graphicData uri="http://schemas.openxmlformats.org/drawingml/2006/table">
            <a:tbl>
              <a:tblPr firstRow="0" bandRow="0"/>
              <a:tblGrid>
                <a:gridCol w="4829968"/>
                <a:gridCol w="2012486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Advisories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(reference - no live version detected)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33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Foundation / vSphere Foundation (reference - 5.x / 9.x only)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8.0.3 (build 25413364)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25429389) - 6 host(s)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892040"/>
            <a:ext cx="11368735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892040"/>
            <a:ext cx="64008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50109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257800"/>
            <a:ext cx="10966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'VMware Tools (reference - no live version detected)' has the most matched advisories (33), making it the priority target for the next patch/upgrade cycle. See the Matched Advisories pages that follow for detail.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Matched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severity, then CVSS 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3" cy="5367528"/>
        </p:xfrm>
        <a:graphic>
          <a:graphicData uri="http://schemas.openxmlformats.org/drawingml/2006/table">
            <a:tbl>
              <a:tblPr firstRow="0" bandRow="0"/>
              <a:tblGrid>
                <a:gridCol w="1359305"/>
                <a:gridCol w="4448635"/>
                <a:gridCol w="1235732"/>
                <a:gridCol w="865012"/>
                <a:gridCol w="1235732"/>
                <a:gridCol w="2224317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Advisory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Environment 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VCDSA38017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VMSA-2026-0006.1: VMware ESX, vCe…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2.7-9.8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July 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VCDSA24968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VMSA-2024-0019:VMware vCenter Ser…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7.5-9.8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17 September 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VCDSA24453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VMSA-2024-0012:VMware vCenter Ser…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7.8-9.8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18 June 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VCDSA23677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VMSA-2023-0023:VMware vCenter Ser…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23 October 2023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VCDSA38017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VMSA-2026-0006.1: VMware ESX, vCe…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2.7-9.8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July 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VCDSA35877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VMSA-2025-0013: VMware ESXi, Work…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6.2-9.3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15 July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VCDSA25390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VMSA-2025-0004: VMware ESXi, Work…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7.1-9.3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04 March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VCDSA24266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VMSA-2024-0006:VMware ESXi, Works…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7.1-9.3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08 May 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VCDSA23653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VMSA-2022-0033:VMware ESXi, Works…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11 December 2022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VCDSA35877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VMSA-2025-0013: VMware ESXi, Work…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6.2-9.3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15 July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VMSA-2012-0011:VMware hosted prod…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12 June 2012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VCDSA23433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VMSA-2012-0009:VMware Workstation…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01 May 2012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VCDSA38017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VMSA-2026-0006.1: VMware ESX, vCe…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2.7-9.8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July 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VCDSA35877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VMSA-2025-0013: VMware ESXi, Work…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6.2-9.3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15 July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Matched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severity, then CVSS 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3" cy="5367528"/>
        </p:xfrm>
        <a:graphic>
          <a:graphicData uri="http://schemas.openxmlformats.org/drawingml/2006/table">
            <a:tbl>
              <a:tblPr firstRow="0" bandRow="0"/>
              <a:tblGrid>
                <a:gridCol w="1359305"/>
                <a:gridCol w="4448635"/>
                <a:gridCol w="1235732"/>
                <a:gridCol w="865012"/>
                <a:gridCol w="1235732"/>
                <a:gridCol w="2224317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Advisory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Environment 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VCDSA25390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VMSA-2025-0004: VMware ESXi, Work…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7.1-9.3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04 March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VCDSA24968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VMSA-2024-0019:VMware vCenter Ser…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7.5-9.8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17 September 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VCDSA24453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VMSA-2024-0012:VMware vCenter Ser…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7.8-9.8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18 June 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VCDSA24266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VMSA-2024-0006:VMware ESXi, Works…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7.1-9.3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08 May 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VCDSA23680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VMSA-2024-0001:VMware Aria Automa…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14 January 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VCDSA23677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VMSA-2023-0023:VMware vCenter Ser…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23 October 2023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VCDSA24598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VMSA-2024-0017: VMware Aria Autom…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 July 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VCDSA25711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VMSA-2025-0008: VMware Aria autom…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8.2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12 May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VCDSA37513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VMSA-2026-0004: VMware Cloud Foun…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08 June 2026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VCDSA25518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VMSA-2025-0005: VMware Tools for…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 March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VCDSA25541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VMSA-2025-0006: VMware Aria Opera…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01 April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VCDSA36150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VMSA-2025-0016: VMware vCenter an…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7.5-8.5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September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VMSA-2025-0010 : VMware ESXi, vCe…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4.3-8.8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May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VCDSA24308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VMSA-2024-0011:VMware ESXi, Works…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4.9-8.1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21 May 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Matched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severity, then CVSS 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3" cy="5367528"/>
        </p:xfrm>
        <a:graphic>
          <a:graphicData uri="http://schemas.openxmlformats.org/drawingml/2006/table">
            <a:tbl>
              <a:tblPr firstRow="0" bandRow="0"/>
              <a:tblGrid>
                <a:gridCol w="1359305"/>
                <a:gridCol w="4448635"/>
                <a:gridCol w="1235732"/>
                <a:gridCol w="865012"/>
                <a:gridCol w="1235732"/>
                <a:gridCol w="2224317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Advisory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Environment 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VCDSA23660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VMSA-2023-0014:VMware vCenter Ser…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June 2023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VCDSA23648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VMSA-2022-0030:VMware ESXi and vC…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06 December 2022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VMSA-2021-0025:VMware vCenter Ser…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08 November 2021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vCenter Server 8.0.…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VCDSA25717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VMSA-2025-0010 : VMware ESXi, vCe…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4.3-8.8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May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VCDSA24308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VMSA-2024-0011:VMware ESXi, Works…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4.9-8.1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21 May 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VCDSA23648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VMSA-2022-0030:VMware ESXi and vC…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06 December 2022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 8.0.3 (build 2…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VCDSA36149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VMSA-2025-0015: VMware Aria Opera…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4.9 -7.8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September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VCDSA23678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VMSA-2023-0024:VMware Tools updat…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24 October 2023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VCDSA23664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VMSA-2023-0019:VMware Tools updat…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August 2023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VCDSA23642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VMSA-2022-0024:VMware Tools updat…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21 August 2022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VCDSA23605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VMSA-2021-0013:VMware Tools, VMRC…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June 2021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VCDSA23569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VMSA-2020-0002:VMware Tools worka…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07 January 2020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VCDSA23554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VMSA-2019-0009:VMware Tools and W…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7.1-8.5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04 June 2019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VCDSA23543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VMSA-2018-0017:VMware Tools updat…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 July 2018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Matched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severity, then CVSS 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3" cy="5367528"/>
        </p:xfrm>
        <a:graphic>
          <a:graphicData uri="http://schemas.openxmlformats.org/drawingml/2006/table">
            <a:tbl>
              <a:tblPr firstRow="0" bandRow="0"/>
              <a:tblGrid>
                <a:gridCol w="1359305"/>
                <a:gridCol w="4448635"/>
                <a:gridCol w="1235732"/>
                <a:gridCol w="865012"/>
                <a:gridCol w="1235732"/>
                <a:gridCol w="2224317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Advisory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Environment 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VCDSA23532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VMSA-2018-0003:vRealize Operation…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02 January 2018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VCDSA23492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VMSA-2016-0010:VMware product upd…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02 August 2016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VCDSA23472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VMSA-2016-0001:VMware ESXi, Fusio…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05 January 2016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VCDSA23431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VMSA-2012-0007:VMware hosted prod…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 April 2012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VCDSA23430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VMSA-2012-0006:VMware ESXi and ES…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27 March 2012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VCDSA23408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VMSA-2012-0005:VMware vCenter Ser…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13 March 2012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VMSA-2011-0011:Hosted product upd…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02 October 2011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VMSA-2011-0009:VMware hosted prod…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31 May 2011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VMSA-2011-0006:VMware vmrun utili…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27 March 2011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VCDSA23404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VMSA-2010-0018:VMware hosted prod…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30 November 2010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VCDSA23377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VMSA-2010-0007:VMware hosted prod…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07 April 2010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Tools (refer…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VCDSA36947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VMSA-2026-0001: VMware Aria Opera…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6.2 - 8.1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24 February 2026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VCDSA36150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VMSA-2025-0016: VMware vCenter an…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7.5-8.5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September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VCDSA36149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VMSA-2025-0015: VMware Aria Opera…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4.9 -7.8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29 September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Matched Advisories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severity, then CVSS 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3" cy="5367528"/>
        </p:xfrm>
        <a:graphic>
          <a:graphicData uri="http://schemas.openxmlformats.org/drawingml/2006/table">
            <a:tbl>
              <a:tblPr firstRow="0" bandRow="0"/>
              <a:tblGrid>
                <a:gridCol w="1359305"/>
                <a:gridCol w="4448635"/>
                <a:gridCol w="1235732"/>
                <a:gridCol w="865012"/>
                <a:gridCol w="1235732"/>
                <a:gridCol w="2224317"/>
              </a:tblGrid>
              <a:tr h="107350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Advisory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CVSS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Published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Environment Target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VCDSA25738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VMSA-2025-0012: VMware NSX update…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5.9-7.5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04 June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VCDSA25717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VMSA-2025-0010 : VMware ESXi, vCe…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4.3-8.8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May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VCDSA25733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VMSA-2025-0009 : VMware Cloud Fou…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7.3-8.2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20 May 2025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0735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VCDSA25329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VMSA-2025-0003: VMware Aria Opera…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EA580C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5.2-8.5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30 January 2025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VMware Cloud Founda…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CVE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Top matched CVEs with NVD lookup detail (from CVE_Lookup_Cache.json)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CVE-2026-59309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Advisory: VCDSA38017 (CRITICAL, CVSS 2.7-9.8)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VMware vCenter contains an authentication bypass vulnerability in the VMware Directory Service.Â A malicious actor with network access to vCenterÂ may exploit this issue to bypass authentication and…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2498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498" y="987552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090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CVE-2024-38812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7090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Advisory: VCDSA24968 (CRITICAL, CVSS 7.5-9.8)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TheÂ vCenter Server contains a heap-overflow vulnerability in the implementation of the DCERPC protocol.Â A malicious actor with network access to vCenter Server may trigger this vulnerability by sen…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3516" y="987552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8108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CVE-2024-37079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8108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Advisory: VCDSA24453 (CRITICAL, CVSS 7.8-9.8)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 vCenter Server contains a heap-overflow vulnerability in the implementation of the DCERPC protocol. A malicious actor with network access to vCenter Server may trigger this vulnerability by sending a…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16352"/>
            <a:ext cx="11368735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16352"/>
            <a:ext cx="64008" cy="9144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93522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DATA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18211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CVE descriptions above come from the repo-root CVE_Lookup_Cache.json cache. Run menu [5] (VMSA Full List Download + CVE Lookup) to refresh this cache before regenerating this deck.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Patch Priority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786384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1) Patch Critical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20 Critical-severity advisories affect this environment.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Plan emergency or next-available maintenance windows for affected vCenter/ESXi hosts.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498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498" y="786384"/>
            <a:ext cx="54864" cy="15544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090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2) Track Important/High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090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44 Important/High advisories should be scheduled into the next regular patch cycle.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Group by environment target to minimize the number of maintenance windows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3516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3516" y="786384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8108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3) Keep Advisory Data 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8108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Re-run menu [5] (VMSA Full List Download + CVE Lookup) periodically to keep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VMSA_FullList_Data.json and CVE_Lookup_Cache.json current, then re-generate this deck.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615184"/>
            <a:ext cx="11368735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15184"/>
            <a:ext cx="64008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73405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980944"/>
            <a:ext cx="109663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This summary was generated from VMSA_Environment_Match_20260910-1747.csv. 82 advisories were matched against 4 environment target(s); re-generate this deck after each menu [3]/[5] run to keep it current.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VMSA_Environment_Match_20260910-1747.csv  |  Generated 2026-09-10 19:30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