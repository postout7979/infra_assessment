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series</c:v>
                </c:pt>
              </c:strCache>
            </c:strRef>
          </c:tx>
          <c:dPt>
            <c:idx val="0"/>
            <c:spPr>
              <a:solidFill>
                <a:srgbClr val="1A7F37"/>
              </a:solidFill>
              <a:ln w="19050">
                <a:solidFill>
                  <a:srgbClr val="FFFFFF"/>
                </a:solidFill>
              </a:ln>
            </c:spPr>
          </c:dPt>
          <c:dPt>
            <c:idx val="1"/>
            <c:spPr>
              <a:solidFill>
                <a:srgbClr val="CF222E"/>
              </a:solidFill>
              <a:ln w="19050">
                <a:solidFill>
                  <a:srgbClr val="FFFFFF"/>
                </a:solidFill>
              </a:ln>
            </c:spPr>
          </c:dPt>
          <c:dPt>
            <c:idx val="2"/>
            <c:spPr>
              <a:solidFill>
                <a:srgbClr val="9A6700"/>
              </a:solidFill>
              <a:ln w="19050">
                <a:solidFill>
                  <a:srgbClr val="FFFFFF"/>
                </a:solidFill>
              </a:ln>
            </c:spPr>
          </c:dPt>
          <c:dPt>
            <c:idx val="3"/>
            <c:spPr>
              <a:solidFill>
                <a:srgbClr val="0969DA"/>
              </a:solidFill>
              <a:ln w="19050">
                <a:solidFill>
                  <a:srgbClr val="FFFFFF"/>
                </a:solidFill>
              </a:ln>
            </c:spPr>
          </c:dPt>
          <c:cat>
            <c:strRef>
              <c:f>Sheet1!$A$2:$A$5</c:f>
              <c:strCache>
                <c:ptCount val="4"/>
                <c:pt idx="0">
                  <c:v>PASS</c:v>
                </c:pt>
                <c:pt idx="1">
                  <c:v>FAIL</c:v>
                </c:pt>
                <c:pt idx="2">
                  <c:v>WARN</c:v>
                </c:pt>
                <c:pt idx="3">
                  <c:v>MANUAL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82</c:v>
                </c:pt>
                <c:pt idx="1">
                  <c:v>20</c:v>
                </c:pt>
                <c:pt idx="2">
                  <c:v>74</c:v>
                </c:pt>
                <c:pt idx="3">
                  <c:v>74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900" b="1">
                  <a:solidFill>
                    <a:srgbClr val="1E293B"/>
                  </a:solidFill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legend>
      <c:legendPos/>
      <c:layout/>
      <c:overlay val="0"/>
      <c:txPr>
        <a:bodyPr/>
        <a:lstStyle/>
        <a:p>
          <a:pPr>
            <a:defRPr sz="900">
              <a:latin typeface="Segoe UI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gradFill rotWithShape="1">
            <a:gsLst>
              <a:gs pos="0">
                <a:srgbClr val="1E3A8A"/>
              </a:gs>
              <a:gs pos="100000">
                <a:srgbClr val="1E2A5E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46304"/>
            <a:ext cx="7848295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 spc="60">
                <a:solidFill>
                  <a:srgbClr val="BFD1F7"/>
                </a:solidFill>
                <a:latin typeface="Segoe UI"/>
              </a:rPr>
              <a:t>VSPHERE SECURITY ASSESSMENT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347472"/>
            <a:ext cx="7848295" cy="42062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Segoe UI"/>
              </a:rPr>
              <a:t>KISA 가상화(vSphere) 보안 점검 결과 요약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768096"/>
            <a:ext cx="7848295" cy="25603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D6E0F5"/>
                </a:solidFill>
                <a:latin typeface="Segoe UI"/>
              </a:rPr>
              <a:t>행정·공공기관 가상화 시스템 보안 점검 기준(HV-01~HV-25) 기반 하드닝 점검 결과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59775" y="132588"/>
            <a:ext cx="3520440" cy="786384"/>
          </a:xfrm>
          <a:prstGeom prst="roundRect">
            <a:avLst>
              <a:gd name="adj" fmla="val 18000"/>
            </a:avLst>
          </a:prstGeom>
          <a:solidFill>
            <a:srgbClr val="FFFFFF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06079" y="205740"/>
            <a:ext cx="322783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334155"/>
                </a:solidFill>
                <a:latin typeface="Segoe UI"/>
              </a:rPr>
              <a:t>생성일: 2026-09-10 17:23</a:t>
            </a:r>
          </a:p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334155"/>
                </a:solidFill>
                <a:latin typeface="Segoe UI"/>
              </a:rPr>
              <a:t>대상 호스트: 10개</a:t>
            </a:r>
          </a:p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334155"/>
                </a:solidFill>
                <a:latin typeface="Segoe UI"/>
              </a:rPr>
              <a:t>점검 항목: 총 250건 (HV-01~HV-25)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1417320"/>
            <a:ext cx="2156703" cy="12344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29768" y="1417320"/>
            <a:ext cx="2120127" cy="54864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9496" y="1563624"/>
            <a:ext cx="1900671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 spc="30">
                <a:solidFill>
                  <a:srgbClr val="64748B"/>
                </a:solidFill>
                <a:latin typeface="Segoe UI"/>
              </a:rPr>
              <a:t>전체 점검 항목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9496" y="1746504"/>
            <a:ext cx="1900671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1" i="0">
                <a:solidFill>
                  <a:srgbClr val="1E3A8A"/>
                </a:solidFill>
                <a:latin typeface="Segoe UI"/>
              </a:rPr>
              <a:t>250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14487" y="1417320"/>
            <a:ext cx="2156703" cy="12344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32775" y="1417320"/>
            <a:ext cx="2120127" cy="54864"/>
          </a:xfrm>
          <a:prstGeom prst="rect">
            <a:avLst/>
          </a:prstGeom>
          <a:solidFill>
            <a:srgbClr val="1A7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842503" y="1563624"/>
            <a:ext cx="1900671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 spc="30">
                <a:solidFill>
                  <a:srgbClr val="64748B"/>
                </a:solidFill>
                <a:latin typeface="Segoe UI"/>
              </a:rPr>
              <a:t>정상 (PASS)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42503" y="1746504"/>
            <a:ext cx="1900671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1" i="0">
                <a:solidFill>
                  <a:srgbClr val="1A7F37"/>
                </a:solidFill>
                <a:latin typeface="Segoe UI"/>
              </a:rPr>
              <a:t>82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42503" y="2395728"/>
            <a:ext cx="1900671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  <a:latin typeface="Segoe UI"/>
              </a:rPr>
              <a:t>32.8%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17495" y="1417320"/>
            <a:ext cx="2156703" cy="12344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35783" y="1417320"/>
            <a:ext cx="2120127" cy="54864"/>
          </a:xfrm>
          <a:prstGeom prst="rect">
            <a:avLst/>
          </a:prstGeom>
          <a:solidFill>
            <a:srgbClr val="CF2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45511" y="1563624"/>
            <a:ext cx="1900671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 spc="30">
                <a:solidFill>
                  <a:srgbClr val="64748B"/>
                </a:solidFill>
                <a:latin typeface="Segoe UI"/>
              </a:rPr>
              <a:t>취약 (FAIL)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45511" y="1746504"/>
            <a:ext cx="1900671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1" i="0">
                <a:solidFill>
                  <a:srgbClr val="CF222E"/>
                </a:solidFill>
                <a:latin typeface="Segoe UI"/>
              </a:rPr>
              <a:t>20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20503" y="1417320"/>
            <a:ext cx="2156703" cy="12344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338791" y="1417320"/>
            <a:ext cx="2120127" cy="54864"/>
          </a:xfrm>
          <a:prstGeom prst="rect">
            <a:avLst/>
          </a:prstGeom>
          <a:solidFill>
            <a:srgbClr val="9A6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48519" y="1563624"/>
            <a:ext cx="1900671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 spc="30">
                <a:solidFill>
                  <a:srgbClr val="64748B"/>
                </a:solidFill>
                <a:latin typeface="Segoe UI"/>
              </a:rPr>
              <a:t>주의 (WARN/수동확인)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48519" y="1746504"/>
            <a:ext cx="1900671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1" i="0">
                <a:solidFill>
                  <a:srgbClr val="9A6700"/>
                </a:solidFill>
                <a:latin typeface="Segoe UI"/>
              </a:rPr>
              <a:t>148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623511" y="1417320"/>
            <a:ext cx="2156703" cy="12344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641799" y="1417320"/>
            <a:ext cx="2120127" cy="5486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751527" y="1563624"/>
            <a:ext cx="1900671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 spc="30">
                <a:solidFill>
                  <a:srgbClr val="64748B"/>
                </a:solidFill>
                <a:latin typeface="Segoe UI"/>
              </a:rPr>
              <a:t>대상 호스트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51527" y="1746504"/>
            <a:ext cx="1900671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1" i="0">
                <a:solidFill>
                  <a:srgbClr val="2563EB"/>
                </a:solidFill>
                <a:latin typeface="Segoe UI"/>
              </a:rPr>
              <a:t>10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11480" y="2834640"/>
            <a:ext cx="11368735" cy="96012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11480" y="2834640"/>
            <a:ext cx="64008" cy="96012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12648" y="2953512"/>
            <a:ext cx="21945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 spc="30">
                <a:solidFill>
                  <a:srgbClr val="1E3A8A"/>
                </a:solidFill>
                <a:latin typeface="Segoe UI"/>
              </a:rPr>
              <a:t>핵심 요약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2648" y="3200400"/>
            <a:ext cx="1096639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334155"/>
                </a:solidFill>
                <a:latin typeface="Segoe UI"/>
              </a:rPr>
              <a:t>전체 250건 중 82건이 정상(PASS)으로 확인되어 준수율은 32.8%입니다. 중요도 '상' 항목 중 취약(FAIL) 코드는 0개로, 최우선 조치가 필요합니다.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1480" y="3977639"/>
            <a:ext cx="11368735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1E293B"/>
                </a:solidFill>
                <a:latin typeface="Segoe UI"/>
              </a:rPr>
              <a:t>중요도별 준수율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11480" y="4288535"/>
            <a:ext cx="18288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334155"/>
                </a:solidFill>
                <a:latin typeface="Segoe UI"/>
              </a:rPr>
              <a:t>중요도 '상' (160건)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331720" y="4379975"/>
            <a:ext cx="8488375" cy="146304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2331720" y="4379975"/>
            <a:ext cx="2920001" cy="146304"/>
          </a:xfrm>
          <a:prstGeom prst="roundRect">
            <a:avLst>
              <a:gd name="adj" fmla="val 50000"/>
            </a:avLst>
          </a:prstGeom>
          <a:solidFill>
            <a:srgbClr val="CF2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929823" y="4288535"/>
            <a:ext cx="822960" cy="32918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CF222E"/>
                </a:solidFill>
                <a:latin typeface="Segoe UI"/>
              </a:rPr>
              <a:t>34%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11480" y="4672583"/>
            <a:ext cx="18288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334155"/>
                </a:solidFill>
                <a:latin typeface="Segoe UI"/>
              </a:rPr>
              <a:t>중요도 '중' (80건)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2331720" y="4764023"/>
            <a:ext cx="8488375" cy="146304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2331720" y="4764023"/>
            <a:ext cx="2869070" cy="146304"/>
          </a:xfrm>
          <a:prstGeom prst="roundRect">
            <a:avLst>
              <a:gd name="adj" fmla="val 50000"/>
            </a:avLst>
          </a:prstGeom>
          <a:solidFill>
            <a:srgbClr val="9A6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929823" y="4672583"/>
            <a:ext cx="822960" cy="32918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9A6700"/>
                </a:solidFill>
                <a:latin typeface="Segoe UI"/>
              </a:rPr>
              <a:t>34%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11480" y="5056631"/>
            <a:ext cx="18288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334155"/>
                </a:solidFill>
                <a:latin typeface="Segoe UI"/>
              </a:rPr>
              <a:t>중요도 '하' (10건)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2331720" y="5148071"/>
            <a:ext cx="8488375" cy="146304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2331720" y="5148071"/>
            <a:ext cx="45720" cy="146304"/>
          </a:xfrm>
          <a:prstGeom prst="roundRect">
            <a:avLst>
              <a:gd name="adj" fmla="val 50000"/>
            </a:avLst>
          </a:prstGeom>
          <a:solidFill>
            <a:srgbClr val="1A7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929823" y="5056631"/>
            <a:ext cx="822960" cy="32918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1A7F37"/>
                </a:solidFill>
                <a:latin typeface="Segoe UI"/>
              </a:rPr>
              <a:t>0%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11480" y="6528816"/>
            <a:ext cx="1136873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11480" y="6583680"/>
            <a:ext cx="9601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  <a:latin typeface="Segoe UI"/>
              </a:rPr>
              <a:t>Source: kisa_virtualization_report_20260908_220838.csv  |  Generated 2026-09-10 17:23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682935" y="6583680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64748B"/>
                </a:solidFill>
                <a:latin typeface="Segoe UI"/>
              </a:rPr>
              <a:t>1 / 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320040"/>
            <a:ext cx="82296" cy="27432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12648" y="292608"/>
            <a:ext cx="8686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E293B"/>
                </a:solidFill>
                <a:latin typeface="Segoe UI"/>
              </a:rPr>
              <a:t>점검 결과 개요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594360"/>
            <a:ext cx="86868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64748B"/>
                </a:solidFill>
                <a:latin typeface="Segoe UI"/>
              </a:rPr>
              <a:t>상태별 분포 및 중요도별 준수 현황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859536"/>
            <a:ext cx="11368735" cy="1397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11480" y="987552"/>
          <a:ext cx="4206240" cy="3749039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937760" y="987552"/>
            <a:ext cx="684245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E293B"/>
                </a:solidFill>
                <a:latin typeface="Segoe UI"/>
              </a:rPr>
              <a:t>중요도별 준수 현황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937760" y="1298448"/>
          <a:ext cx="6842452" cy="1554480"/>
        </p:xfrm>
        <a:graphic>
          <a:graphicData uri="http://schemas.openxmlformats.org/drawingml/2006/table">
            <a:tbl>
              <a:tblPr firstRow="0" bandRow="0"/>
              <a:tblGrid>
                <a:gridCol w="1315856"/>
                <a:gridCol w="1315856"/>
                <a:gridCol w="1315856"/>
                <a:gridCol w="1315856"/>
                <a:gridCol w="1579028"/>
              </a:tblGrid>
              <a:tr h="38862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</a:rPr>
                        <a:t>중요도</a:t>
                      </a:r>
                    </a:p>
                  </a:txBody>
                  <a:tcPr marL="54864" marR="54864" marT="18288" marB="18288" anchor="ctr">
                    <a:solidFill>
                      <a:srgbClr val="1E3A8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</a:rPr>
                        <a:t>항목 수</a:t>
                      </a:r>
                    </a:p>
                  </a:txBody>
                  <a:tcPr marL="54864" marR="54864" marT="18288" marB="18288" anchor="ctr">
                    <a:solidFill>
                      <a:srgbClr val="1E3A8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</a:rPr>
                        <a:t>PASS</a:t>
                      </a:r>
                    </a:p>
                  </a:txBody>
                  <a:tcPr marL="54864" marR="54864" marT="18288" marB="18288" anchor="ctr">
                    <a:solidFill>
                      <a:srgbClr val="1E3A8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</a:rPr>
                        <a:t>FAIL</a:t>
                      </a:r>
                    </a:p>
                  </a:txBody>
                  <a:tcPr marL="54864" marR="54864" marT="18288" marB="18288" anchor="ctr">
                    <a:solidFill>
                      <a:srgbClr val="1E3A8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</a:rPr>
                        <a:t>준수율</a:t>
                      </a:r>
                    </a:p>
                  </a:txBody>
                  <a:tcPr marL="54864" marR="54864" marT="18288" marB="18288" anchor="ctr">
                    <a:solidFill>
                      <a:srgbClr val="1E3A8A"/>
                    </a:solidFill>
                  </a:tcPr>
                </a:tc>
              </a:tr>
              <a:tr h="38862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DC2626"/>
                          </a:solidFill>
                          <a:latin typeface="Segoe UI"/>
                        </a:rPr>
                        <a:t>상</a:t>
                      </a:r>
                    </a:p>
                  </a:txBody>
                  <a:tcPr marL="54864" marR="54864" marT="9144" marB="9144" anchor="ctr">
                    <a:solidFill>
                      <a:srgbClr val="FEE2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334155"/>
                          </a:solidFill>
                          <a:latin typeface="Segoe UI"/>
                        </a:rPr>
                        <a:t>160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334155"/>
                          </a:solidFill>
                          <a:latin typeface="Segoe UI"/>
                        </a:rPr>
                        <a:t>55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334155"/>
                          </a:solidFill>
                          <a:latin typeface="Segoe UI"/>
                        </a:rPr>
                        <a:t>0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334155"/>
                          </a:solidFill>
                          <a:latin typeface="Segoe UI"/>
                        </a:rPr>
                        <a:t>34.4%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D97706"/>
                          </a:solidFill>
                          <a:latin typeface="Segoe UI"/>
                        </a:rPr>
                        <a:t>중</a:t>
                      </a:r>
                    </a:p>
                  </a:txBody>
                  <a:tcPr marL="54864" marR="54864" marT="9144" marB="9144" anchor="ctr">
                    <a:solidFill>
                      <a:srgbClr val="FEF3C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334155"/>
                          </a:solidFill>
                          <a:latin typeface="Segoe UI"/>
                        </a:rPr>
                        <a:t>80</a:t>
                      </a:r>
                    </a:p>
                  </a:txBody>
                  <a:tcPr marL="54864" marR="54864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334155"/>
                          </a:solidFill>
                          <a:latin typeface="Segoe UI"/>
                        </a:rPr>
                        <a:t>27</a:t>
                      </a:r>
                    </a:p>
                  </a:txBody>
                  <a:tcPr marL="54864" marR="54864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334155"/>
                          </a:solidFill>
                          <a:latin typeface="Segoe UI"/>
                        </a:rPr>
                        <a:t>10</a:t>
                      </a:r>
                    </a:p>
                  </a:txBody>
                  <a:tcPr marL="54864" marR="54864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334155"/>
                          </a:solidFill>
                          <a:latin typeface="Segoe UI"/>
                        </a:rPr>
                        <a:t>33.8%</a:t>
                      </a:r>
                    </a:p>
                  </a:txBody>
                  <a:tcPr marL="54864" marR="54864" marT="9144" marB="9144" anchor="ctr">
                    <a:solidFill>
                      <a:srgbClr val="F1F5F9"/>
                    </a:solidFill>
                  </a:tcPr>
                </a:tc>
              </a:tr>
              <a:tr h="38862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6A34A"/>
                          </a:solidFill>
                          <a:latin typeface="Segoe UI"/>
                        </a:rPr>
                        <a:t>하</a:t>
                      </a:r>
                    </a:p>
                  </a:txBody>
                  <a:tcPr marL="54864" marR="54864" marT="9144" marB="9144" anchor="ctr">
                    <a:solidFill>
                      <a:srgbClr val="DCFCE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334155"/>
                          </a:solidFill>
                          <a:latin typeface="Segoe UI"/>
                        </a:rPr>
                        <a:t>10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334155"/>
                          </a:solidFill>
                          <a:latin typeface="Segoe UI"/>
                        </a:rPr>
                        <a:t>0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334155"/>
                          </a:solidFill>
                          <a:latin typeface="Segoe UI"/>
                        </a:rPr>
                        <a:t>10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334155"/>
                          </a:solidFill>
                          <a:latin typeface="Segoe UI"/>
                        </a:rPr>
                        <a:t>0.0%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937760" y="2999232"/>
            <a:ext cx="684245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E293B"/>
                </a:solidFill>
                <a:latin typeface="Segoe UI"/>
              </a:rPr>
              <a:t>준수율 낮은 호스트 Top 5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937760" y="3310128"/>
          <a:ext cx="6842452" cy="1371600"/>
        </p:xfrm>
        <a:graphic>
          <a:graphicData uri="http://schemas.openxmlformats.org/drawingml/2006/table">
            <a:tbl>
              <a:tblPr firstRow="0" bandRow="0"/>
              <a:tblGrid>
                <a:gridCol w="1887573"/>
                <a:gridCol w="1179733"/>
                <a:gridCol w="1179733"/>
                <a:gridCol w="1179733"/>
                <a:gridCol w="1415680"/>
              </a:tblGrid>
              <a:tr h="228600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Segoe UI"/>
                        </a:rPr>
                        <a:t>호스트</a:t>
                      </a:r>
                    </a:p>
                  </a:txBody>
                  <a:tcPr marL="54864" marR="54864" marT="18288" marB="18288" anchor="ctr">
                    <a:solidFill>
                      <a:srgbClr val="1E3A8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Segoe UI"/>
                        </a:rPr>
                        <a:t>항목 수</a:t>
                      </a:r>
                    </a:p>
                  </a:txBody>
                  <a:tcPr marL="54864" marR="54864" marT="18288" marB="18288" anchor="ctr">
                    <a:solidFill>
                      <a:srgbClr val="1E3A8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Segoe UI"/>
                        </a:rPr>
                        <a:t>PASS</a:t>
                      </a:r>
                    </a:p>
                  </a:txBody>
                  <a:tcPr marL="54864" marR="54864" marT="18288" marB="18288" anchor="ctr">
                    <a:solidFill>
                      <a:srgbClr val="1E3A8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Segoe UI"/>
                        </a:rPr>
                        <a:t>FAIL</a:t>
                      </a:r>
                    </a:p>
                  </a:txBody>
                  <a:tcPr marL="54864" marR="54864" marT="18288" marB="18288" anchor="ctr">
                    <a:solidFill>
                      <a:srgbClr val="1E3A8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Segoe UI"/>
                        </a:rPr>
                        <a:t>준수율</a:t>
                      </a:r>
                    </a:p>
                  </a:txBody>
                  <a:tcPr marL="54864" marR="54864" marT="18288" marB="18288" anchor="ctr">
                    <a:solidFill>
                      <a:srgbClr val="1E3A8A"/>
                    </a:solidFill>
                  </a:tcPr>
                </a:tc>
              </a:tr>
              <a:tr h="22860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wd-esx01.vcf.local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25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7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2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28.0%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wd-esx02.vcf.local</a:t>
                      </a:r>
                    </a:p>
                  </a:txBody>
                  <a:tcPr marL="54864" marR="54864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25</a:t>
                      </a:r>
                    </a:p>
                  </a:txBody>
                  <a:tcPr marL="54864" marR="54864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7</a:t>
                      </a:r>
                    </a:p>
                  </a:txBody>
                  <a:tcPr marL="54864" marR="54864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2</a:t>
                      </a:r>
                    </a:p>
                  </a:txBody>
                  <a:tcPr marL="54864" marR="54864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28.0%</a:t>
                      </a:r>
                    </a:p>
                  </a:txBody>
                  <a:tcPr marL="54864" marR="54864" marT="9144" marB="9144" anchor="ctr">
                    <a:solidFill>
                      <a:srgbClr val="F1F5F9"/>
                    </a:solidFill>
                  </a:tcPr>
                </a:tc>
              </a:tr>
              <a:tr h="22860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fu-04.epa.com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25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8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2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32.0%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fu-05.epa.com</a:t>
                      </a:r>
                    </a:p>
                  </a:txBody>
                  <a:tcPr marL="54864" marR="54864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25</a:t>
                      </a:r>
                    </a:p>
                  </a:txBody>
                  <a:tcPr marL="54864" marR="54864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8</a:t>
                      </a:r>
                    </a:p>
                  </a:txBody>
                  <a:tcPr marL="54864" marR="54864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2</a:t>
                      </a:r>
                    </a:p>
                  </a:txBody>
                  <a:tcPr marL="54864" marR="54864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32.0%</a:t>
                      </a:r>
                    </a:p>
                  </a:txBody>
                  <a:tcPr marL="54864" marR="54864" marT="9144" marB="9144" anchor="ctr">
                    <a:solidFill>
                      <a:srgbClr val="F1F5F9"/>
                    </a:solidFill>
                  </a:tcPr>
                </a:tc>
              </a:tr>
              <a:tr h="22860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fu-06.epa.com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25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8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2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32.0%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411480" y="4892040"/>
            <a:ext cx="11368735" cy="100584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1480" y="4892040"/>
            <a:ext cx="64008" cy="100584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8" y="5010912"/>
            <a:ext cx="21945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 spc="30">
                <a:solidFill>
                  <a:srgbClr val="1E3A8A"/>
                </a:solidFill>
                <a:latin typeface="Segoe UI"/>
              </a:rPr>
              <a:t>관찰 사항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" y="5257800"/>
            <a:ext cx="1096639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334155"/>
                </a:solidFill>
                <a:latin typeface="Segoe UI"/>
              </a:rPr>
              <a:t>가장 많은 호스트에서 FAIL이 발생한 항목은 'HV-06 - 세션 타임아웃 설정'(10/10 호스트)입니다. 동일 코드가 여러 호스트에서 반복되면 표준 이미지/템플릿 수준의 일괄 조치를 검토하세요.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6528816"/>
            <a:ext cx="1136873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6583680"/>
            <a:ext cx="9601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  <a:latin typeface="Segoe UI"/>
              </a:rPr>
              <a:t>Source: kisa_virtualization_report_20260908_220838.csv  |  Generated 2026-09-10 17:23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82935" y="6583680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64748B"/>
                </a:solidFill>
                <a:latin typeface="Segoe UI"/>
              </a:rPr>
              <a:t>2 / 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320040"/>
            <a:ext cx="82296" cy="27432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12648" y="292608"/>
            <a:ext cx="8686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E293B"/>
                </a:solidFill>
                <a:latin typeface="Segoe UI"/>
              </a:rPr>
              <a:t>취약/주의 항목 상세 (점검 코드 기준 집계)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594360"/>
            <a:ext cx="86868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64748B"/>
                </a:solidFill>
                <a:latin typeface="Segoe UI"/>
              </a:rPr>
              <a:t>호스트 전반에서 취약/주의 항목이 있는 점검 코드 (1/2 페이지)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859536"/>
            <a:ext cx="11368735" cy="1397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11480" y="987552"/>
          <a:ext cx="11368729" cy="5367528"/>
        </p:xfrm>
        <a:graphic>
          <a:graphicData uri="http://schemas.openxmlformats.org/drawingml/2006/table">
            <a:tbl>
              <a:tblPr firstRow="0" bandRow="0"/>
              <a:tblGrid>
                <a:gridCol w="1062498"/>
                <a:gridCol w="4887493"/>
                <a:gridCol w="956248"/>
                <a:gridCol w="849998"/>
                <a:gridCol w="849998"/>
                <a:gridCol w="849998"/>
                <a:gridCol w="849998"/>
                <a:gridCol w="1062498"/>
              </a:tblGrid>
              <a:tr h="357835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Segoe UI"/>
                        </a:rPr>
                        <a:t>코드</a:t>
                      </a:r>
                    </a:p>
                  </a:txBody>
                  <a:tcPr marL="54864" marR="54864" marT="18288" marB="18288" anchor="ctr">
                    <a:solidFill>
                      <a:srgbClr val="1E3A8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Segoe UI"/>
                        </a:rPr>
                        <a:t>점검 항목</a:t>
                      </a:r>
                    </a:p>
                  </a:txBody>
                  <a:tcPr marL="54864" marR="54864" marT="18288" marB="18288" anchor="ctr">
                    <a:solidFill>
                      <a:srgbClr val="1E3A8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Segoe UI"/>
                        </a:rPr>
                        <a:t>중요도</a:t>
                      </a:r>
                    </a:p>
                  </a:txBody>
                  <a:tcPr marL="54864" marR="54864" marT="18288" marB="18288" anchor="ctr">
                    <a:solidFill>
                      <a:srgbClr val="1E3A8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Segoe UI"/>
                        </a:rPr>
                        <a:t>대상</a:t>
                      </a:r>
                    </a:p>
                  </a:txBody>
                  <a:tcPr marL="54864" marR="54864" marT="18288" marB="18288" anchor="ctr">
                    <a:solidFill>
                      <a:srgbClr val="1E3A8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Segoe UI"/>
                        </a:rPr>
                        <a:t>PASS</a:t>
                      </a:r>
                    </a:p>
                  </a:txBody>
                  <a:tcPr marL="54864" marR="54864" marT="18288" marB="18288" anchor="ctr">
                    <a:solidFill>
                      <a:srgbClr val="1E3A8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Segoe UI"/>
                        </a:rPr>
                        <a:t>FAIL</a:t>
                      </a:r>
                    </a:p>
                  </a:txBody>
                  <a:tcPr marL="54864" marR="54864" marT="18288" marB="18288" anchor="ctr">
                    <a:solidFill>
                      <a:srgbClr val="1E3A8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Segoe UI"/>
                        </a:rPr>
                        <a:t>기타</a:t>
                      </a:r>
                    </a:p>
                  </a:txBody>
                  <a:tcPr marL="54864" marR="54864" marT="18288" marB="18288" anchor="ctr">
                    <a:solidFill>
                      <a:srgbClr val="1E3A8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Segoe UI"/>
                        </a:rPr>
                        <a:t>준수율</a:t>
                      </a:r>
                    </a:p>
                  </a:txBody>
                  <a:tcPr marL="54864" marR="54864" marT="18288" marB="18288" anchor="ctr">
                    <a:solidFill>
                      <a:srgbClr val="1E3A8A"/>
                    </a:solidFill>
                  </a:tcPr>
                </a:tc>
              </a:tr>
              <a:tr h="357835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HV-01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기본 관리자 계정 변경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DC2626"/>
                          </a:solidFill>
                          <a:latin typeface="Segoe UI"/>
                        </a:rPr>
                        <a:t>상</a:t>
                      </a:r>
                    </a:p>
                  </a:txBody>
                  <a:tcPr marL="54864" marR="54864" marT="9144" marB="9144" anchor="ctr">
                    <a:solidFill>
                      <a:srgbClr val="FEE2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10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0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0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10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0.0%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</a:tr>
              <a:tr h="357835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HV-04</a:t>
                      </a:r>
                    </a:p>
                  </a:txBody>
                  <a:tcPr marL="54864" marR="54864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불필요한 계정 제거</a:t>
                      </a:r>
                    </a:p>
                  </a:txBody>
                  <a:tcPr marL="54864" marR="54864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DC2626"/>
                          </a:solidFill>
                          <a:latin typeface="Segoe UI"/>
                        </a:rPr>
                        <a:t>상</a:t>
                      </a:r>
                    </a:p>
                  </a:txBody>
                  <a:tcPr marL="54864" marR="54864" marT="9144" marB="9144" anchor="ctr">
                    <a:solidFill>
                      <a:srgbClr val="FEE2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10</a:t>
                      </a:r>
                    </a:p>
                  </a:txBody>
                  <a:tcPr marL="54864" marR="54864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0</a:t>
                      </a:r>
                    </a:p>
                  </a:txBody>
                  <a:tcPr marL="54864" marR="54864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0</a:t>
                      </a:r>
                    </a:p>
                  </a:txBody>
                  <a:tcPr marL="54864" marR="54864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10</a:t>
                      </a:r>
                    </a:p>
                  </a:txBody>
                  <a:tcPr marL="54864" marR="54864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0.0%</a:t>
                      </a:r>
                    </a:p>
                  </a:txBody>
                  <a:tcPr marL="54864" marR="54864" marT="9144" marB="9144" anchor="ctr">
                    <a:solidFill>
                      <a:srgbClr val="F1F5F9"/>
                    </a:solidFill>
                  </a:tcPr>
                </a:tc>
              </a:tr>
              <a:tr h="357835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HV-05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관리자 권한 최소화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DC2626"/>
                          </a:solidFill>
                          <a:latin typeface="Segoe UI"/>
                        </a:rPr>
                        <a:t>상</a:t>
                      </a:r>
                    </a:p>
                  </a:txBody>
                  <a:tcPr marL="54864" marR="54864" marT="9144" marB="9144" anchor="ctr">
                    <a:solidFill>
                      <a:srgbClr val="FEE2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10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0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0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10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0.0%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</a:tr>
              <a:tr h="357835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HV-08</a:t>
                      </a:r>
                    </a:p>
                  </a:txBody>
                  <a:tcPr marL="54864" marR="54864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불필요한 서비스 비활성화</a:t>
                      </a:r>
                    </a:p>
                  </a:txBody>
                  <a:tcPr marL="54864" marR="54864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DC2626"/>
                          </a:solidFill>
                          <a:latin typeface="Segoe UI"/>
                        </a:rPr>
                        <a:t>상</a:t>
                      </a:r>
                    </a:p>
                  </a:txBody>
                  <a:tcPr marL="54864" marR="54864" marT="9144" marB="9144" anchor="ctr">
                    <a:solidFill>
                      <a:srgbClr val="FEE2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10</a:t>
                      </a:r>
                    </a:p>
                  </a:txBody>
                  <a:tcPr marL="54864" marR="54864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0</a:t>
                      </a:r>
                    </a:p>
                  </a:txBody>
                  <a:tcPr marL="54864" marR="54864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0</a:t>
                      </a:r>
                    </a:p>
                  </a:txBody>
                  <a:tcPr marL="54864" marR="54864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10</a:t>
                      </a:r>
                    </a:p>
                  </a:txBody>
                  <a:tcPr marL="54864" marR="54864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0.0%</a:t>
                      </a:r>
                    </a:p>
                  </a:txBody>
                  <a:tcPr marL="54864" marR="54864" marT="9144" marB="9144" anchor="ctr">
                    <a:solidFill>
                      <a:srgbClr val="F1F5F9"/>
                    </a:solidFill>
                  </a:tcPr>
                </a:tc>
              </a:tr>
              <a:tr h="357835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HV-10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SNMP 보안 설정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DC2626"/>
                          </a:solidFill>
                          <a:latin typeface="Segoe UI"/>
                        </a:rPr>
                        <a:t>상</a:t>
                      </a:r>
                    </a:p>
                  </a:txBody>
                  <a:tcPr marL="54864" marR="54864" marT="9144" marB="9144" anchor="ctr">
                    <a:solidFill>
                      <a:srgbClr val="FEE2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10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0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0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10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0.0%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</a:tr>
              <a:tr h="357835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HV-12</a:t>
                      </a:r>
                    </a:p>
                  </a:txBody>
                  <a:tcPr marL="54864" marR="54864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호스트 방화벽 설정</a:t>
                      </a:r>
                    </a:p>
                  </a:txBody>
                  <a:tcPr marL="54864" marR="54864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DC2626"/>
                          </a:solidFill>
                          <a:latin typeface="Segoe UI"/>
                        </a:rPr>
                        <a:t>상</a:t>
                      </a:r>
                    </a:p>
                  </a:txBody>
                  <a:tcPr marL="54864" marR="54864" marT="9144" marB="9144" anchor="ctr">
                    <a:solidFill>
                      <a:srgbClr val="FEE2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10</a:t>
                      </a:r>
                    </a:p>
                  </a:txBody>
                  <a:tcPr marL="54864" marR="54864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0</a:t>
                      </a:r>
                    </a:p>
                  </a:txBody>
                  <a:tcPr marL="54864" marR="54864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0</a:t>
                      </a:r>
                    </a:p>
                  </a:txBody>
                  <a:tcPr marL="54864" marR="54864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10</a:t>
                      </a:r>
                    </a:p>
                  </a:txBody>
                  <a:tcPr marL="54864" marR="54864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0.0%</a:t>
                      </a:r>
                    </a:p>
                  </a:txBody>
                  <a:tcPr marL="54864" marR="54864" marT="9144" marB="9144" anchor="ctr">
                    <a:solidFill>
                      <a:srgbClr val="F1F5F9"/>
                    </a:solidFill>
                  </a:tcPr>
                </a:tc>
              </a:tr>
              <a:tr h="357835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HV-13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보안 패치 적용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DC2626"/>
                          </a:solidFill>
                          <a:latin typeface="Segoe UI"/>
                        </a:rPr>
                        <a:t>상</a:t>
                      </a:r>
                    </a:p>
                  </a:txBody>
                  <a:tcPr marL="54864" marR="54864" marT="9144" marB="9144" anchor="ctr">
                    <a:solidFill>
                      <a:srgbClr val="FEE2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10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0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0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10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0.0%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</a:tr>
              <a:tr h="357835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HV-17</a:t>
                      </a:r>
                    </a:p>
                  </a:txBody>
                  <a:tcPr marL="54864" marR="54864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VM 간 격리 설정</a:t>
                      </a:r>
                    </a:p>
                  </a:txBody>
                  <a:tcPr marL="54864" marR="54864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DC2626"/>
                          </a:solidFill>
                          <a:latin typeface="Segoe UI"/>
                        </a:rPr>
                        <a:t>상</a:t>
                      </a:r>
                    </a:p>
                  </a:txBody>
                  <a:tcPr marL="54864" marR="54864" marT="9144" marB="9144" anchor="ctr">
                    <a:solidFill>
                      <a:srgbClr val="FEE2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10</a:t>
                      </a:r>
                    </a:p>
                  </a:txBody>
                  <a:tcPr marL="54864" marR="54864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0</a:t>
                      </a:r>
                    </a:p>
                  </a:txBody>
                  <a:tcPr marL="54864" marR="54864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0</a:t>
                      </a:r>
                    </a:p>
                  </a:txBody>
                  <a:tcPr marL="54864" marR="54864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10</a:t>
                      </a:r>
                    </a:p>
                  </a:txBody>
                  <a:tcPr marL="54864" marR="54864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0.0%</a:t>
                      </a:r>
                    </a:p>
                  </a:txBody>
                  <a:tcPr marL="54864" marR="54864" marT="9144" marB="9144" anchor="ctr">
                    <a:solidFill>
                      <a:srgbClr val="F1F5F9"/>
                    </a:solidFill>
                  </a:tcPr>
                </a:tc>
              </a:tr>
              <a:tr h="357835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HV-20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VM 이동/복제 시 보안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DC2626"/>
                          </a:solidFill>
                          <a:latin typeface="Segoe UI"/>
                        </a:rPr>
                        <a:t>상</a:t>
                      </a:r>
                    </a:p>
                  </a:txBody>
                  <a:tcPr marL="54864" marR="54864" marT="9144" marB="9144" anchor="ctr">
                    <a:solidFill>
                      <a:srgbClr val="FEE2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10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0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0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10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0.0%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</a:tr>
              <a:tr h="357835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HV-09</a:t>
                      </a:r>
                    </a:p>
                  </a:txBody>
                  <a:tcPr marL="54864" marR="54864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SSH 보안 설정</a:t>
                      </a:r>
                    </a:p>
                  </a:txBody>
                  <a:tcPr marL="54864" marR="54864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DC2626"/>
                          </a:solidFill>
                          <a:latin typeface="Segoe UI"/>
                        </a:rPr>
                        <a:t>상</a:t>
                      </a:r>
                    </a:p>
                  </a:txBody>
                  <a:tcPr marL="54864" marR="54864" marT="9144" marB="9144" anchor="ctr">
                    <a:solidFill>
                      <a:srgbClr val="FEE2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10</a:t>
                      </a:r>
                    </a:p>
                  </a:txBody>
                  <a:tcPr marL="54864" marR="54864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3</a:t>
                      </a:r>
                    </a:p>
                  </a:txBody>
                  <a:tcPr marL="54864" marR="54864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0</a:t>
                      </a:r>
                    </a:p>
                  </a:txBody>
                  <a:tcPr marL="54864" marR="54864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7</a:t>
                      </a:r>
                    </a:p>
                  </a:txBody>
                  <a:tcPr marL="54864" marR="54864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30.0%</a:t>
                      </a:r>
                    </a:p>
                  </a:txBody>
                  <a:tcPr marL="54864" marR="54864" marT="9144" marB="9144" anchor="ctr">
                    <a:solidFill>
                      <a:srgbClr val="F1F5F9"/>
                    </a:solidFill>
                  </a:tcPr>
                </a:tc>
              </a:tr>
              <a:tr h="357835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HV-22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가상 스위치 보안 설정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DC2626"/>
                          </a:solidFill>
                          <a:latin typeface="Segoe UI"/>
                        </a:rPr>
                        <a:t>상</a:t>
                      </a:r>
                    </a:p>
                  </a:txBody>
                  <a:tcPr marL="54864" marR="54864" marT="9144" marB="9144" anchor="ctr">
                    <a:solidFill>
                      <a:srgbClr val="FEE2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10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6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0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4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60.0%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</a:tr>
              <a:tr h="357835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HV-25</a:t>
                      </a:r>
                    </a:p>
                  </a:txBody>
                  <a:tcPr marL="54864" marR="54864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무차별 모드(Promiscuous Mode) 제한</a:t>
                      </a:r>
                    </a:p>
                  </a:txBody>
                  <a:tcPr marL="54864" marR="54864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DC2626"/>
                          </a:solidFill>
                          <a:latin typeface="Segoe UI"/>
                        </a:rPr>
                        <a:t>상</a:t>
                      </a:r>
                    </a:p>
                  </a:txBody>
                  <a:tcPr marL="54864" marR="54864" marT="9144" marB="9144" anchor="ctr">
                    <a:solidFill>
                      <a:srgbClr val="FEE2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10</a:t>
                      </a:r>
                    </a:p>
                  </a:txBody>
                  <a:tcPr marL="54864" marR="54864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6</a:t>
                      </a:r>
                    </a:p>
                  </a:txBody>
                  <a:tcPr marL="54864" marR="54864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0</a:t>
                      </a:r>
                    </a:p>
                  </a:txBody>
                  <a:tcPr marL="54864" marR="54864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4</a:t>
                      </a:r>
                    </a:p>
                  </a:txBody>
                  <a:tcPr marL="54864" marR="54864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60.0%</a:t>
                      </a:r>
                    </a:p>
                  </a:txBody>
                  <a:tcPr marL="54864" marR="54864" marT="9144" marB="9144" anchor="ctr">
                    <a:solidFill>
                      <a:srgbClr val="F1F5F9"/>
                    </a:solidFill>
                  </a:tcPr>
                </a:tc>
              </a:tr>
              <a:tr h="357835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HV-06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세션 타임아웃 설정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D97706"/>
                          </a:solidFill>
                          <a:latin typeface="Segoe UI"/>
                        </a:rPr>
                        <a:t>중</a:t>
                      </a:r>
                    </a:p>
                  </a:txBody>
                  <a:tcPr marL="54864" marR="54864" marT="9144" marB="9144" anchor="ctr">
                    <a:solidFill>
                      <a:srgbClr val="FEF3C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10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0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10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0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0.0%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</a:tr>
              <a:tr h="35783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HV-15</a:t>
                      </a:r>
                    </a:p>
                  </a:txBody>
                  <a:tcPr marL="54864" marR="54864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백업 정책 수립</a:t>
                      </a:r>
                    </a:p>
                  </a:txBody>
                  <a:tcPr marL="54864" marR="54864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D97706"/>
                          </a:solidFill>
                          <a:latin typeface="Segoe UI"/>
                        </a:rPr>
                        <a:t>중</a:t>
                      </a:r>
                    </a:p>
                  </a:txBody>
                  <a:tcPr marL="54864" marR="54864" marT="9144" marB="9144" anchor="ctr">
                    <a:solidFill>
                      <a:srgbClr val="FEF3C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10</a:t>
                      </a:r>
                    </a:p>
                  </a:txBody>
                  <a:tcPr marL="54864" marR="54864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0</a:t>
                      </a:r>
                    </a:p>
                  </a:txBody>
                  <a:tcPr marL="54864" marR="54864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0</a:t>
                      </a:r>
                    </a:p>
                  </a:txBody>
                  <a:tcPr marL="54864" marR="54864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10</a:t>
                      </a:r>
                    </a:p>
                  </a:txBody>
                  <a:tcPr marL="54864" marR="54864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0.0%</a:t>
                      </a:r>
                    </a:p>
                  </a:txBody>
                  <a:tcPr marL="54864" marR="54864" marT="9144" marB="9144"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411480" y="6528816"/>
            <a:ext cx="1136873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6583680"/>
            <a:ext cx="9601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  <a:latin typeface="Segoe UI"/>
              </a:rPr>
              <a:t>Source: kisa_virtualization_report_20260908_220838.csv  |  Generated 2026-09-10 17:23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82935" y="6583680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64748B"/>
                </a:solidFill>
                <a:latin typeface="Segoe UI"/>
              </a:rPr>
              <a:t>3 / 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320040"/>
            <a:ext cx="82296" cy="27432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12648" y="292608"/>
            <a:ext cx="8686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E293B"/>
                </a:solidFill>
                <a:latin typeface="Segoe UI"/>
              </a:rPr>
              <a:t>취약/주의 항목 상세 (점검 코드 기준 집계)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594360"/>
            <a:ext cx="86868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64748B"/>
                </a:solidFill>
                <a:latin typeface="Segoe UI"/>
              </a:rPr>
              <a:t>호스트 전반에서 취약/주의 항목이 있는 점검 코드 (2/2 페이지)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859536"/>
            <a:ext cx="11368735" cy="1397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11480" y="987552"/>
          <a:ext cx="11368729" cy="5367528"/>
        </p:xfrm>
        <a:graphic>
          <a:graphicData uri="http://schemas.openxmlformats.org/drawingml/2006/table">
            <a:tbl>
              <a:tblPr firstRow="0" bandRow="0"/>
              <a:tblGrid>
                <a:gridCol w="1062498"/>
                <a:gridCol w="4887493"/>
                <a:gridCol w="956248"/>
                <a:gridCol w="849998"/>
                <a:gridCol w="849998"/>
                <a:gridCol w="849998"/>
                <a:gridCol w="849998"/>
                <a:gridCol w="1062498"/>
              </a:tblGrid>
              <a:tr h="894588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Segoe UI"/>
                        </a:rPr>
                        <a:t>코드</a:t>
                      </a:r>
                    </a:p>
                  </a:txBody>
                  <a:tcPr marL="54864" marR="54864" marT="18288" marB="18288" anchor="ctr">
                    <a:solidFill>
                      <a:srgbClr val="1E3A8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Segoe UI"/>
                        </a:rPr>
                        <a:t>점검 항목</a:t>
                      </a:r>
                    </a:p>
                  </a:txBody>
                  <a:tcPr marL="54864" marR="54864" marT="18288" marB="18288" anchor="ctr">
                    <a:solidFill>
                      <a:srgbClr val="1E3A8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Segoe UI"/>
                        </a:rPr>
                        <a:t>중요도</a:t>
                      </a:r>
                    </a:p>
                  </a:txBody>
                  <a:tcPr marL="54864" marR="54864" marT="18288" marB="18288" anchor="ctr">
                    <a:solidFill>
                      <a:srgbClr val="1E3A8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Segoe UI"/>
                        </a:rPr>
                        <a:t>대상</a:t>
                      </a:r>
                    </a:p>
                  </a:txBody>
                  <a:tcPr marL="54864" marR="54864" marT="18288" marB="18288" anchor="ctr">
                    <a:solidFill>
                      <a:srgbClr val="1E3A8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Segoe UI"/>
                        </a:rPr>
                        <a:t>PASS</a:t>
                      </a:r>
                    </a:p>
                  </a:txBody>
                  <a:tcPr marL="54864" marR="54864" marT="18288" marB="18288" anchor="ctr">
                    <a:solidFill>
                      <a:srgbClr val="1E3A8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Segoe UI"/>
                        </a:rPr>
                        <a:t>FAIL</a:t>
                      </a:r>
                    </a:p>
                  </a:txBody>
                  <a:tcPr marL="54864" marR="54864" marT="18288" marB="18288" anchor="ctr">
                    <a:solidFill>
                      <a:srgbClr val="1E3A8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Segoe UI"/>
                        </a:rPr>
                        <a:t>기타</a:t>
                      </a:r>
                    </a:p>
                  </a:txBody>
                  <a:tcPr marL="54864" marR="54864" marT="18288" marB="18288" anchor="ctr">
                    <a:solidFill>
                      <a:srgbClr val="1E3A8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Segoe UI"/>
                        </a:rPr>
                        <a:t>준수율</a:t>
                      </a:r>
                    </a:p>
                  </a:txBody>
                  <a:tcPr marL="54864" marR="54864" marT="18288" marB="18288" anchor="ctr">
                    <a:solidFill>
                      <a:srgbClr val="1E3A8A"/>
                    </a:solidFill>
                  </a:tcPr>
                </a:tc>
              </a:tr>
              <a:tr h="89458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HV-18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VM 리소스 제한 설정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D97706"/>
                          </a:solidFill>
                          <a:latin typeface="Segoe UI"/>
                        </a:rPr>
                        <a:t>중</a:t>
                      </a:r>
                    </a:p>
                  </a:txBody>
                  <a:tcPr marL="54864" marR="54864" marT="9144" marB="9144" anchor="ctr">
                    <a:solidFill>
                      <a:srgbClr val="FEF3C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10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0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0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10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0.0%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</a:tr>
              <a:tr h="89458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HV-24</a:t>
                      </a:r>
                    </a:p>
                  </a:txBody>
                  <a:tcPr marL="54864" marR="54864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가상 네트워크 모니터링</a:t>
                      </a:r>
                    </a:p>
                  </a:txBody>
                  <a:tcPr marL="54864" marR="54864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D97706"/>
                          </a:solidFill>
                          <a:latin typeface="Segoe UI"/>
                        </a:rPr>
                        <a:t>중</a:t>
                      </a:r>
                    </a:p>
                  </a:txBody>
                  <a:tcPr marL="54864" marR="54864" marT="9144" marB="9144" anchor="ctr">
                    <a:solidFill>
                      <a:srgbClr val="FEF3C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10</a:t>
                      </a:r>
                    </a:p>
                  </a:txBody>
                  <a:tcPr marL="54864" marR="54864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0</a:t>
                      </a:r>
                    </a:p>
                  </a:txBody>
                  <a:tcPr marL="54864" marR="54864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0</a:t>
                      </a:r>
                    </a:p>
                  </a:txBody>
                  <a:tcPr marL="54864" marR="54864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10</a:t>
                      </a:r>
                    </a:p>
                  </a:txBody>
                  <a:tcPr marL="54864" marR="54864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0.0%</a:t>
                      </a:r>
                    </a:p>
                  </a:txBody>
                  <a:tcPr marL="54864" marR="54864" marT="9144" marB="9144" anchor="ctr">
                    <a:solidFill>
                      <a:srgbClr val="F1F5F9"/>
                    </a:solidFill>
                  </a:tcPr>
                </a:tc>
              </a:tr>
              <a:tr h="89458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HV-14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로그 설정 및 관리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D97706"/>
                          </a:solidFill>
                          <a:latin typeface="Segoe UI"/>
                        </a:rPr>
                        <a:t>중</a:t>
                      </a:r>
                    </a:p>
                  </a:txBody>
                  <a:tcPr marL="54864" marR="54864" marT="9144" marB="9144" anchor="ctr">
                    <a:solidFill>
                      <a:srgbClr val="FEF3C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10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3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0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7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30.0%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</a:tr>
              <a:tr h="89458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HV-21</a:t>
                      </a:r>
                    </a:p>
                  </a:txBody>
                  <a:tcPr marL="54864" marR="54864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불필요한 VM 제거</a:t>
                      </a:r>
                    </a:p>
                  </a:txBody>
                  <a:tcPr marL="54864" marR="54864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D97706"/>
                          </a:solidFill>
                          <a:latin typeface="Segoe UI"/>
                        </a:rPr>
                        <a:t>중</a:t>
                      </a:r>
                    </a:p>
                  </a:txBody>
                  <a:tcPr marL="54864" marR="54864" marT="9144" marB="9144" anchor="ctr">
                    <a:solidFill>
                      <a:srgbClr val="FEF3C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10</a:t>
                      </a:r>
                    </a:p>
                  </a:txBody>
                  <a:tcPr marL="54864" marR="54864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4</a:t>
                      </a:r>
                    </a:p>
                  </a:txBody>
                  <a:tcPr marL="54864" marR="54864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0</a:t>
                      </a:r>
                    </a:p>
                  </a:txBody>
                  <a:tcPr marL="54864" marR="54864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6</a:t>
                      </a:r>
                    </a:p>
                  </a:txBody>
                  <a:tcPr marL="54864" marR="54864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40.0%</a:t>
                      </a:r>
                    </a:p>
                  </a:txBody>
                  <a:tcPr marL="54864" marR="54864" marT="9144" marB="9144" anchor="ctr">
                    <a:solidFill>
                      <a:srgbClr val="F1F5F9"/>
                    </a:solidFill>
                  </a:tcPr>
                </a:tc>
              </a:tr>
              <a:tr h="89458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HV-07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로그인 경고 메시지 설정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6A34A"/>
                          </a:solidFill>
                          <a:latin typeface="Segoe UI"/>
                        </a:rPr>
                        <a:t>하</a:t>
                      </a:r>
                    </a:p>
                  </a:txBody>
                  <a:tcPr marL="54864" marR="54864" marT="9144" marB="9144" anchor="ctr">
                    <a:solidFill>
                      <a:srgbClr val="DCFCE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10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0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10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0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0.0%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411480" y="6528816"/>
            <a:ext cx="1136873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6583680"/>
            <a:ext cx="9601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  <a:latin typeface="Segoe UI"/>
              </a:rPr>
              <a:t>Source: kisa_virtualization_report_20260908_220838.csv  |  Generated 2026-09-10 17:23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82935" y="6583680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64748B"/>
                </a:solidFill>
                <a:latin typeface="Segoe UI"/>
              </a:rPr>
              <a:t>4 / 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320040"/>
            <a:ext cx="82296" cy="27432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12648" y="292608"/>
            <a:ext cx="8686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E293B"/>
                </a:solidFill>
                <a:latin typeface="Segoe UI"/>
              </a:rPr>
              <a:t>권고 사항 및 후속 조치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594360"/>
            <a:ext cx="86868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64748B"/>
                </a:solidFill>
                <a:latin typeface="Segoe UI"/>
              </a:rPr>
              <a:t>우선순위에 따른 조치 제안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859536"/>
            <a:ext cx="11368735" cy="1397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11480" y="987552"/>
            <a:ext cx="3606698" cy="1554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987552"/>
            <a:ext cx="54864" cy="1554480"/>
          </a:xfrm>
          <a:prstGeom prst="rect">
            <a:avLst/>
          </a:prstGeom>
          <a:solidFill>
            <a:srgbClr val="CF2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76072" y="1097280"/>
            <a:ext cx="327751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E293B"/>
                </a:solidFill>
                <a:latin typeface="Segoe UI"/>
              </a:rPr>
              <a:t>1) 즉시 조치 (중요도 상 + FAIL)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" y="1408176"/>
            <a:ext cx="3277514" cy="10424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000">
                <a:solidFill>
                  <a:srgbClr val="334155"/>
                </a:solidFill>
                <a:latin typeface="Segoe UI"/>
              </a:rPr>
              <a:t>•  중요도 '상'이면서 FAIL인 항목을 최우선으로 조치합니다.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000">
                <a:solidFill>
                  <a:srgbClr val="334155"/>
                </a:solidFill>
                <a:latin typeface="Segoe UI"/>
              </a:rPr>
              <a:t>•  현재 해당 대상 항목: 0개 점검 코드.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000">
                <a:solidFill>
                  <a:srgbClr val="334155"/>
                </a:solidFill>
                <a:latin typeface="Segoe UI"/>
              </a:rPr>
              <a:t>•  조치 완료 후 재점검을 실행해 준수 여부를 확인하세요.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2498" y="987552"/>
            <a:ext cx="3606698" cy="1554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92498" y="987552"/>
            <a:ext cx="54864" cy="1554480"/>
          </a:xfrm>
          <a:prstGeom prst="rect">
            <a:avLst/>
          </a:prstGeom>
          <a:solidFill>
            <a:srgbClr val="9A6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57090" y="1097280"/>
            <a:ext cx="327751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E293B"/>
                </a:solidFill>
                <a:latin typeface="Segoe UI"/>
              </a:rPr>
              <a:t>2) 순차 조치 (중요도 중/하)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57090" y="1408176"/>
            <a:ext cx="3277514" cy="10424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000">
                <a:solidFill>
                  <a:srgbClr val="334155"/>
                </a:solidFill>
                <a:latin typeface="Segoe UI"/>
              </a:rPr>
              <a:t>•  중요도 '중', '하' FAIL 항목은 다음 점검 주기 전까지 순차적으로 조치합니다.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000">
                <a:solidFill>
                  <a:srgbClr val="334155"/>
                </a:solidFill>
                <a:latin typeface="Segoe UI"/>
              </a:rPr>
              <a:t>•  동일 코드가 다수 호스트에서 반복되면 표준 이미지/템플릿 수준에서 일괄 반영을 검토하세요.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73516" y="987552"/>
            <a:ext cx="3606698" cy="1554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73516" y="987552"/>
            <a:ext cx="54864" cy="1554480"/>
          </a:xfrm>
          <a:prstGeom prst="rect">
            <a:avLst/>
          </a:prstGeom>
          <a:solidFill>
            <a:srgbClr val="0969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38108" y="1097280"/>
            <a:ext cx="327751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E293B"/>
                </a:solidFill>
                <a:latin typeface="Segoe UI"/>
              </a:rPr>
              <a:t>3) 수동 확인 필요 (MANUAL/ERROR)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38108" y="1408176"/>
            <a:ext cx="3277514" cy="10424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000">
                <a:solidFill>
                  <a:srgbClr val="334155"/>
                </a:solidFill>
                <a:latin typeface="Segoe UI"/>
              </a:rPr>
              <a:t>•  자동 점검이 불가능한 MANUAL 항목은 담당자가 수동으로 확인 후 결과를 기록합니다.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000">
                <a:solidFill>
                  <a:srgbClr val="334155"/>
                </a:solidFill>
                <a:latin typeface="Segoe UI"/>
              </a:rPr>
              <a:t>•  ERROR 항목은 점검 스크립트 실행 조건(권한/접속 등)을 먼저 확인하세요.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000">
                <a:solidFill>
                  <a:srgbClr val="334155"/>
                </a:solidFill>
                <a:latin typeface="Segoe UI"/>
              </a:rPr>
              <a:t>•  전체 준수율: 32.8% (목표: 지속적 개선)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11480" y="2816352"/>
            <a:ext cx="11368735" cy="105156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11480" y="2816352"/>
            <a:ext cx="64008" cy="105156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2648" y="2935224"/>
            <a:ext cx="21945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 spc="30">
                <a:solidFill>
                  <a:srgbClr val="1E3A8A"/>
                </a:solidFill>
                <a:latin typeface="Segoe UI"/>
              </a:rPr>
              <a:t>다음 단계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648" y="3182112"/>
            <a:ext cx="10966399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334155"/>
                </a:solidFill>
                <a:latin typeface="Segoe UI"/>
              </a:rPr>
              <a:t>이 요약본은 kisa_virtualization_report_20260908_220838.csv 파일을 기준으로 자동 생성되었습니다. 조치 진행 상황은 다음 정기 점검 실행 시(메뉴 [3] vCenter Security Suite) 자동으로 갱신되는 결과와 비교해 추적하는 것을 권장합니다. (대상 호스트 10개, 전체 준수율 32.8%)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1480" y="6528816"/>
            <a:ext cx="1136873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1480" y="6583680"/>
            <a:ext cx="9601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  <a:latin typeface="Segoe UI"/>
              </a:rPr>
              <a:t>Source: kisa_virtualization_report_20260908_220838.csv  |  Generated 2026-09-10 17:23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82935" y="6583680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64748B"/>
                </a:solidFill>
                <a:latin typeface="Segoe UI"/>
              </a:rPr>
              <a:t>5 / 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