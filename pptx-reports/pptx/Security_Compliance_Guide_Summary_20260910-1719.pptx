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%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cat>
            <c:strRef>
              <c:f>Sheet1!$A$2:$A$67</c:f>
              <c:strCache>
                <c:ptCount val="66"/>
                <c:pt idx="0">
                  <c:v>ESXi: fu-01.***.***</c:v>
                </c:pt>
                <c:pt idx="1">
                  <c:v>ESXi: fu-02.***.***</c:v>
                </c:pt>
                <c:pt idx="2">
                  <c:v>ESXi: fu-03.***.***</c:v>
                </c:pt>
                <c:pt idx="3">
                  <c:v>ESXi: fu-04.***.***</c:v>
                </c:pt>
                <c:pt idx="4">
                  <c:v>ESXi: fu-05.***.***</c:v>
                </c:pt>
                <c:pt idx="5">
                  <c:v>ESXi: fu-06.***.***</c:v>
                </c:pt>
                <c:pt idx="6">
                  <c:v>ESXi: wd-esx01.***.***</c:v>
                </c:pt>
                <c:pt idx="7">
                  <c:v>ESXi: wd-esx02.***.***</c:v>
                </c:pt>
                <c:pt idx="8">
                  <c:v>ESXi: wd-esx03.***.***</c:v>
                </c:pt>
                <c:pt idx="9">
                  <c:v>ESXi: wd-esx04.***.***</c:v>
                </c:pt>
                <c:pt idx="10">
                  <c:v>VM: auto-attach-54576dc64-6b4cj</c:v>
                </c:pt>
                <c:pt idx="11">
                  <c:v>VM: avi-lb-insung</c:v>
                </c:pt>
                <c:pt idx="12">
                  <c:v>VM: Avi-se-jeaxv</c:v>
                </c:pt>
                <c:pt idx="13">
                  <c:v>VM: cc-esx01</c:v>
                </c:pt>
                <c:pt idx="14">
                  <c:v>VM: cc-esx02</c:v>
                </c:pt>
                <c:pt idx="15">
                  <c:v>VM: cci-ns-controller-manager-5c7f68459b-qxt2z</c:v>
                </c:pt>
                <c:pt idx="16">
                  <c:v>VM: configuration-service-controller-manager-857bc67fd9-lr6w9</c:v>
                </c:pt>
                <c:pt idx="17">
                  <c:v>VM: edge01</c:v>
                </c:pt>
                <c:pt idx="18">
                  <c:v>VM: edge02</c:v>
                </c:pt>
                <c:pt idx="19">
                  <c:v>VM: epa-dns</c:v>
                </c:pt>
                <c:pt idx="20">
                  <c:v>VM: epa-harbor</c:v>
                </c:pt>
                <c:pt idx="21">
                  <c:v>VM: epa-nsx-01</c:v>
                </c:pt>
                <c:pt idx="22">
                  <c:v>VM: epa-nsx-02</c:v>
                </c:pt>
                <c:pt idx="23">
                  <c:v>VM: epa-nsx-03</c:v>
                </c:pt>
                <c:pt idx="24">
                  <c:v>VM: inha-esx01-10.***.***</c:v>
                </c:pt>
                <c:pt idx="25">
                  <c:v>VM: inha-esx02</c:v>
                </c:pt>
                <c:pt idx="26">
                  <c:v>VM: inha-esx03</c:v>
                </c:pt>
                <c:pt idx="27">
                  <c:v>VM: inha-vc-10.***.***</c:v>
                </c:pt>
                <c:pt idx="28">
                  <c:v>VM: insung-linuxhost</c:v>
                </c:pt>
                <c:pt idx="29">
                  <c:v>VM: k1mes-vc01-10.***.***</c:v>
                </c:pt>
                <c:pt idx="30">
                  <c:v>VM: k2mes-vc01</c:v>
                </c:pt>
                <c:pt idx="31">
                  <c:v>VM: k3mes-vc01</c:v>
                </c:pt>
                <c:pt idx="32">
                  <c:v>VM: kdw-jumpbox</c:v>
                </c:pt>
                <c:pt idx="33">
                  <c:v>VM: krxcs01</c:v>
                </c:pt>
                <c:pt idx="34">
                  <c:v>VM: ksb-nfs-storage</c:v>
                </c:pt>
                <c:pt idx="35">
                  <c:v>VM: md-esxi01</c:v>
                </c:pt>
                <c:pt idx="36">
                  <c:v>VM: md-esxi02</c:v>
                </c:pt>
                <c:pt idx="37">
                  <c:v>VM: md-esxi03</c:v>
                </c:pt>
                <c:pt idx="38">
                  <c:v>VM: md-esxi04</c:v>
                </c:pt>
                <c:pt idx="39">
                  <c:v>VM: metrics-aggregator-86dc689bf7-v5mnx</c:v>
                </c:pt>
                <c:pt idx="40">
                  <c:v>VM: NC-ESXi01</c:v>
                </c:pt>
                <c:pt idx="41">
                  <c:v>VM: NC-ESXi02</c:v>
                </c:pt>
                <c:pt idx="42">
                  <c:v>VM: NC-ESXi03</c:v>
                </c:pt>
                <c:pt idx="43">
                  <c:v>VM: NC-ESXi04</c:v>
                </c:pt>
                <c:pt idx="44">
                  <c:v>VM: Nice-AD</c:v>
                </c:pt>
                <c:pt idx="45">
                  <c:v>VM: Nice-Builder</c:v>
                </c:pt>
                <c:pt idx="46">
                  <c:v>VM: Nice-Depot</c:v>
                </c:pt>
                <c:pt idx="47">
                  <c:v>VM: nvidia-license-server-3.***.***</c:v>
                </c:pt>
                <c:pt idx="48">
                  <c:v>VM: psh-esxi01</c:v>
                </c:pt>
                <c:pt idx="49">
                  <c:v>VM: psh-esxi02</c:v>
                </c:pt>
                <c:pt idx="50">
                  <c:v>VM: psh-esxi03</c:v>
                </c:pt>
                <c:pt idx="51">
                  <c:v>VM: sc-esx01</c:v>
                </c:pt>
                <c:pt idx="52">
                  <c:v>VM: sc-esx02</c:v>
                </c:pt>
                <c:pt idx="53">
                  <c:v>VM: sc-esx03</c:v>
                </c:pt>
                <c:pt idx="54">
                  <c:v>VM: sc-esx04</c:v>
                </c:pt>
                <c:pt idx="55">
                  <c:v>VM: SSK_JumpHost</c:v>
                </c:pt>
                <c:pt idx="56">
                  <c:v>VM: ssk-ako-test</c:v>
                </c:pt>
                <c:pt idx="57">
                  <c:v>VM: ssk-avi-controller</c:v>
                </c:pt>
                <c:pt idx="58">
                  <c:v>VM: ssk-jump-host</c:v>
                </c:pt>
                <c:pt idx="59">
                  <c:v>VM: ssk-test-vcenter</c:v>
                </c:pt>
                <c:pt idx="60">
                  <c:v>VM: SupervisorControlPlaneVM (1)</c:v>
                </c:pt>
                <c:pt idx="61">
                  <c:v>VM: SupervisorControlPlaneVM (2)</c:v>
                </c:pt>
                <c:pt idx="62">
                  <c:v>VM: SupervisorControlPlaneVM (3)</c:v>
                </c:pt>
                <c:pt idx="63">
                  <c:v>VM: VCSA</c:v>
                </c:pt>
                <c:pt idx="64">
                  <c:v>VM: wd-edge01</c:v>
                </c:pt>
                <c:pt idx="65">
                  <c:v>VM: wd-edge02</c:v>
                </c:pt>
              </c:strCache>
            </c:str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74.7</c:v>
                </c:pt>
                <c:pt idx="1">
                  <c:v>74.7</c:v>
                </c:pt>
                <c:pt idx="2">
                  <c:v>77.8</c:v>
                </c:pt>
                <c:pt idx="3">
                  <c:v>74.7</c:v>
                </c:pt>
                <c:pt idx="4">
                  <c:v>74.7</c:v>
                </c:pt>
                <c:pt idx="5">
                  <c:v>74.7</c:v>
                </c:pt>
                <c:pt idx="6">
                  <c:v>60.0</c:v>
                </c:pt>
                <c:pt idx="7">
                  <c:v>61.4</c:v>
                </c:pt>
                <c:pt idx="8">
                  <c:v>61.4</c:v>
                </c:pt>
                <c:pt idx="9">
                  <c:v>61.4</c:v>
                </c:pt>
                <c:pt idx="10">
                  <c:v>69.6</c:v>
                </c:pt>
                <c:pt idx="11">
                  <c:v>73.9</c:v>
                </c:pt>
                <c:pt idx="12">
                  <c:v>70.8</c:v>
                </c:pt>
                <c:pt idx="13">
                  <c:v>68.0</c:v>
                </c:pt>
                <c:pt idx="14">
                  <c:v>68.0</c:v>
                </c:pt>
                <c:pt idx="15">
                  <c:v>69.6</c:v>
                </c:pt>
                <c:pt idx="16">
                  <c:v>69.6</c:v>
                </c:pt>
                <c:pt idx="17">
                  <c:v>78.3</c:v>
                </c:pt>
                <c:pt idx="18">
                  <c:v>78.3</c:v>
                </c:pt>
                <c:pt idx="19">
                  <c:v>72.0</c:v>
                </c:pt>
                <c:pt idx="20">
                  <c:v>0.0</c:v>
                </c:pt>
                <c:pt idx="21">
                  <c:v>73.9</c:v>
                </c:pt>
                <c:pt idx="22">
                  <c:v>73.9</c:v>
                </c:pt>
                <c:pt idx="23">
                  <c:v>73.9</c:v>
                </c:pt>
                <c:pt idx="24">
                  <c:v>70.8</c:v>
                </c:pt>
                <c:pt idx="25">
                  <c:v>70.8</c:v>
                </c:pt>
                <c:pt idx="26">
                  <c:v>70.8</c:v>
                </c:pt>
                <c:pt idx="27">
                  <c:v>0.0</c:v>
                </c:pt>
                <c:pt idx="28">
                  <c:v>68.0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68.0</c:v>
                </c:pt>
                <c:pt idx="33">
                  <c:v>69.2</c:v>
                </c:pt>
                <c:pt idx="34">
                  <c:v>72.0</c:v>
                </c:pt>
                <c:pt idx="35">
                  <c:v>70.8</c:v>
                </c:pt>
                <c:pt idx="36">
                  <c:v>70.8</c:v>
                </c:pt>
                <c:pt idx="37">
                  <c:v>70.8</c:v>
                </c:pt>
                <c:pt idx="38">
                  <c:v>70.8</c:v>
                </c:pt>
                <c:pt idx="39">
                  <c:v>69.6</c:v>
                </c:pt>
                <c:pt idx="40">
                  <c:v>70.8</c:v>
                </c:pt>
                <c:pt idx="41">
                  <c:v>70.8</c:v>
                </c:pt>
                <c:pt idx="42">
                  <c:v>70.8</c:v>
                </c:pt>
                <c:pt idx="43">
                  <c:v>70.8</c:v>
                </c:pt>
                <c:pt idx="44">
                  <c:v>69.2</c:v>
                </c:pt>
                <c:pt idx="45">
                  <c:v>64.0</c:v>
                </c:pt>
                <c:pt idx="46">
                  <c:v>72.0</c:v>
                </c:pt>
                <c:pt idx="47">
                  <c:v>70.8</c:v>
                </c:pt>
                <c:pt idx="48">
                  <c:v>70.8</c:v>
                </c:pt>
                <c:pt idx="49">
                  <c:v>70.8</c:v>
                </c:pt>
                <c:pt idx="50">
                  <c:v>70.8</c:v>
                </c:pt>
                <c:pt idx="51">
                  <c:v>68.0</c:v>
                </c:pt>
                <c:pt idx="52">
                  <c:v>68.0</c:v>
                </c:pt>
                <c:pt idx="53">
                  <c:v>68.0</c:v>
                </c:pt>
                <c:pt idx="54">
                  <c:v>68.0</c:v>
                </c:pt>
                <c:pt idx="55">
                  <c:v>68.0</c:v>
                </c:pt>
                <c:pt idx="56">
                  <c:v>68.0</c:v>
                </c:pt>
                <c:pt idx="57">
                  <c:v>73.9</c:v>
                </c:pt>
                <c:pt idx="58">
                  <c:v>64.0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0.0</c:v>
                </c:pt>
                <c:pt idx="63">
                  <c:v>0.0</c:v>
                </c:pt>
                <c:pt idx="64">
                  <c:v>73.9</c:v>
                </c:pt>
                <c:pt idx="65">
                  <c:v>73.9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E293B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95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 w="6350"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gradFill rotWithShape="1">
            <a:gsLst>
              <a:gs pos="0">
                <a:srgbClr val="1E293B"/>
              </a:gs>
              <a:gs pos="100000">
                <a:srgbClr val="334155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7848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60">
                <a:solidFill>
                  <a:srgbClr val="BFD1F7"/>
                </a:solidFill>
                <a:latin typeface="Segoe UI"/>
              </a:rPr>
              <a:t>SECURITY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7472"/>
            <a:ext cx="7848295" cy="42062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vSphere Security Compliance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68096"/>
            <a:ext cx="7848295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D6E0F5"/>
                </a:solidFill>
                <a:latin typeface="Segoe UI"/>
              </a:rPr>
              <a:t>Hardening Audit Summary - executive overview of checks against the VMware Security Config…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59775" y="132588"/>
            <a:ext cx="3520440" cy="786384"/>
          </a:xfrm>
          <a:prstGeom prst="roundRect">
            <a:avLst>
              <a:gd name="adj" fmla="val 18000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06079" y="205740"/>
            <a:ext cx="3227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Generated: 2026-09-10 17:19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Objects assessed: 66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34155"/>
                </a:solidFill>
                <a:latin typeface="Segoe UI"/>
              </a:rPr>
              <a:t>Baseline: VMware vSphere Security Configuration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417320"/>
            <a:ext cx="2120127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TOTAL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563EB"/>
                </a:solidFill>
                <a:latin typeface="Segoe UI"/>
              </a:rPr>
              <a:t>2304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4487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32775" y="1417320"/>
            <a:ext cx="2120127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2503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2503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6A34A"/>
                </a:solidFill>
                <a:latin typeface="Segoe UI"/>
              </a:rPr>
              <a:t>1401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2503" y="2395728"/>
            <a:ext cx="190067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60.8%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17495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5783" y="1417320"/>
            <a:ext cx="2120127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45511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5511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DC2626"/>
                </a:solidFill>
                <a:latin typeface="Segoe UI"/>
              </a:rPr>
              <a:t>643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20503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8791" y="1417320"/>
            <a:ext cx="2120127" cy="54864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8519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INFO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8519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0891B2"/>
                </a:solidFill>
                <a:latin typeface="Segoe UI"/>
              </a:rPr>
              <a:t>260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23511" y="1417320"/>
            <a:ext cx="2156703" cy="12344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1799" y="1417320"/>
            <a:ext cx="2120127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1527" y="1563624"/>
            <a:ext cx="1900671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30">
                <a:solidFill>
                  <a:srgbClr val="64748B"/>
                </a:solidFill>
                <a:latin typeface="Segoe UI"/>
              </a:rPr>
              <a:t>P0 CRITICAL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1527" y="1746504"/>
            <a:ext cx="19006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DC2626"/>
                </a:solidFill>
                <a:latin typeface="Segoe UI"/>
              </a:rPr>
              <a:t>217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2834640"/>
            <a:ext cx="11368735" cy="9601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2834640"/>
            <a:ext cx="64008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295351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293B"/>
                </a:solidFill>
                <a:latin typeface="Segoe UI"/>
              </a:rPr>
              <a:t>EXECUTIVE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3200400"/>
            <a:ext cx="1096639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Across 66 assessed object(s), 1401 of 2304 checks passed (60.8%). 217 finding(s) are rated P0 (critical priority) and should be remediated before the next audit cycle; 132 are P1.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977639"/>
            <a:ext cx="1136873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Segoe UI"/>
              </a:rPr>
              <a:t>Pass Rate by Object Type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288535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ESXi (10 object(s))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31720" y="4379975"/>
            <a:ext cx="8488375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331720" y="4379975"/>
            <a:ext cx="5704188" cy="14630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29823" y="4288535"/>
            <a:ext cx="8229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Segoe UI"/>
              </a:rPr>
              <a:t>67%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4672583"/>
            <a:ext cx="18288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Segoe UI"/>
              </a:rPr>
              <a:t>VM (56 object(s))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4764023"/>
            <a:ext cx="8488375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331720" y="4764023"/>
            <a:ext cx="4804420" cy="14630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29823" y="4672583"/>
            <a:ext cx="82296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891B2"/>
                </a:solidFill>
                <a:latin typeface="Segoe UI"/>
              </a:rPr>
              <a:t>57%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Compliance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Pass rate by object and open-finding priority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11480" y="987552"/>
          <a:ext cx="60350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987552"/>
            <a:ext cx="50136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Open Findings by Priority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298448"/>
          <a:ext cx="5013654" cy="1737360"/>
        </p:xfrm>
        <a:graphic>
          <a:graphicData uri="http://schemas.openxmlformats.org/drawingml/2006/table">
            <a:tbl>
              <a:tblPr firstRow="0" bandRow="0"/>
              <a:tblGrid>
                <a:gridCol w="2924632"/>
                <a:gridCol w="2089022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Fail Count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217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EA580C"/>
                          </a:solidFill>
                          <a:latin typeface="Segoe UI"/>
                        </a:rPr>
                        <a:t>P1</a:t>
                      </a:r>
                    </a:p>
                  </a:txBody>
                  <a:tcPr marL="54864" marR="54864" marT="9144" marB="9144" anchor="ctr"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132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D97706"/>
                          </a:solidFill>
                          <a:latin typeface="Segoe UI"/>
                        </a:rPr>
                        <a:t>P2</a:t>
                      </a:r>
                    </a:p>
                  </a:txBody>
                  <a:tcPr marL="54864" marR="54864" marT="9144" marB="9144" anchor="ctr">
                    <a:solidFill>
                      <a:srgbClr val="FEF3C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52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475569"/>
                          </a:solidFill>
                          <a:latin typeface="Segoe UI"/>
                        </a:rPr>
                        <a:t>Advanced</a:t>
                      </a:r>
                    </a:p>
                  </a:txBody>
                  <a:tcPr marL="54864" marR="54864" marT="9144" marB="9144" anchor="ctr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126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66560" y="3273552"/>
            <a:ext cx="50136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P0 items represent the highest-risk configuration gaps and should be remediated first; see the priority findings and remediation pages that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892040"/>
            <a:ext cx="11368735" cy="1005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4892040"/>
            <a:ext cx="64008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5010912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293B"/>
                </a:solidFill>
                <a:latin typeface="Segoe UI"/>
              </a:rPr>
              <a:t>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257800"/>
            <a:ext cx="10966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The lowest pass rate is 0% on VM: epa-harbor (6 failed check(s)). Review this object first when planning remediation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Priority Findings (Failed Controls)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remediation priority - P0 first  (1/5)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1" cy="5367528"/>
        </p:xfrm>
        <a:graphic>
          <a:graphicData uri="http://schemas.openxmlformats.org/drawingml/2006/table">
            <a:tbl>
              <a:tblPr firstRow="0" bandRow="0"/>
              <a:tblGrid>
                <a:gridCol w="1114581"/>
                <a:gridCol w="5127076"/>
                <a:gridCol w="1114581"/>
                <a:gridCol w="1114581"/>
                <a:gridCol w="1337498"/>
                <a:gridCol w="1560414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SCG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Object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esxi-8.account-password-policies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enforce password com…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"similar=deny 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esxi-8.vib-trusted-binaries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Only run binaries delivered via signed…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esxi-8.memeagerzero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volatile key…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esxi-8.logs-audit-local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audit record…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esxi-8.logs-remote-tls-x509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use strict x509 veri…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esxi-8.account-dcui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deny shell access fo…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esxi-8.secureboot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Secure Boot.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esxi-8.secureboot-enforcement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TPM-based Sec…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esxi-8.tls-profile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maintain confidentia…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NIST_2024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esxi-8.deactivate-cim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CIM service should be deactiva…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Stopped, Start…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esxi-8.deactivate-snmp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SNMP service should be deactiv…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Stopped, Start…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esxi-8.lockdown-mode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Enable normal lockdown mode on the ESXi…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lockdownNormal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esxi-8.lockdown-mode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Enable normal lockdown mode on the ESXi…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fu-01.***.***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lockdownNormal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esxi-8.account-password-policies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enforce password com…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"similar=deny 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Priority Findings (Failed Controls)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remediation priority - P0 first  (2/5)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1" cy="5367528"/>
        </p:xfrm>
        <a:graphic>
          <a:graphicData uri="http://schemas.openxmlformats.org/drawingml/2006/table">
            <a:tbl>
              <a:tblPr firstRow="0" bandRow="0"/>
              <a:tblGrid>
                <a:gridCol w="1114581"/>
                <a:gridCol w="5127076"/>
                <a:gridCol w="1114581"/>
                <a:gridCol w="1114581"/>
                <a:gridCol w="1337498"/>
                <a:gridCol w="1560414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SCG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Object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esxi-8.vib-trusted-binaries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Only run binaries delivered via signed…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esxi-8.memeagerzero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volatile key…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esxi-8.logs-audit-local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audit record…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esxi-8.logs-remote-tls-x509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use strict x509 veri…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esxi-8.account-dcui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deny shell access fo…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esxi-8.secureboot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Secure Boot.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esxi-8.secureboot-enforcement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TPM-based Sec…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esxi-8.tls-profile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maintain confidentia…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NIST_2024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esxi-8.deactivate-cim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CIM service should be deactiva…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Stopped, Start…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esxi-8.deactivate-snmp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SNMP service should be deactiv…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Stopped, Start…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esxi-8.lockdown-mode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Enable normal lockdown mode on the ESXi…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lockdownNormal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esxi-8.lockdown-mode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Enable normal lockdown mode on the ESXi…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fu-02.***.***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lockdownNormal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esxi-8.account-password-policies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enforce password com…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"similar=deny 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esxi-8.vib-trusted-binaries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Only run binaries delivered via signed…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Priority Findings (Failed Controls)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remediation priority - P0 first  (3/5)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1" cy="5367528"/>
        </p:xfrm>
        <a:graphic>
          <a:graphicData uri="http://schemas.openxmlformats.org/drawingml/2006/table">
            <a:tbl>
              <a:tblPr firstRow="0" bandRow="0"/>
              <a:tblGrid>
                <a:gridCol w="1114581"/>
                <a:gridCol w="5127076"/>
                <a:gridCol w="1114581"/>
                <a:gridCol w="1114581"/>
                <a:gridCol w="1337498"/>
                <a:gridCol w="1560414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SCG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Object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esxi-8.memeagerzero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volatile key…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esxi-8.logs-audit-local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audit record…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esxi-8.logs-remote-tls-x509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use strict x509 veri…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esxi-8.account-dcui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deny shell access fo…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esxi-8.secureboot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Secure Boot.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esxi-8.secureboot-enforcement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TPM-based Sec…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esxi-8.tls-profile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maintain confidentia…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NIST_2024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esxi-8.deactivate-cim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CIM service should be deactiva…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Stopped, Start…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esxi-8.deactivate-snmp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SNMP service should be deactiv…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Stopped, Start…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esxi-8.lockdown-mode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Enable normal lockdown mode on the ESXi…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lockdownNormal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esxi-8.lockdown-mode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Enable normal lockdown mode on the ESXi…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fu-03.***.***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lockdownNormal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esxi-8.account-password-policies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enforce password com…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"similar=deny 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esxi-8.vib-trusted-binaries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Only run binaries delivered via signed…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esxi-8.logs-audit-remote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transmit audit recor…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Priority Findings (Failed Controls)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remediation priority - P0 first  (4/5)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1" cy="5367528"/>
        </p:xfrm>
        <a:graphic>
          <a:graphicData uri="http://schemas.openxmlformats.org/drawingml/2006/table">
            <a:tbl>
              <a:tblPr firstRow="0" bandRow="0"/>
              <a:tblGrid>
                <a:gridCol w="1114581"/>
                <a:gridCol w="5127076"/>
                <a:gridCol w="1114581"/>
                <a:gridCol w="1114581"/>
                <a:gridCol w="1337498"/>
                <a:gridCol w="1560414"/>
              </a:tblGrid>
              <a:tr h="35783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SCG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Object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esxi-8.memeagerzero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volatile key…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esxi-8.logs-audit-local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audit record…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esxi-8.logs-remote-tls-x509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use strict x509 veri…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esxi-8.logs-remote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Configure a remote log server for the E…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Site-Specific L…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esxi-8.account-dcui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deny shell access fo…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esxi-8.secureboot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Secure Boot.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esxi-8.secureboot-enforcement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TPM-based Sec…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esxi-8.tls-profile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maintain confidentia…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NIST_2024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esxi-8.deactivate-cim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CIM service should be deactiva…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Stopped, Start…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esxi-8.deactivate-snmp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SNMP service should be deactiv…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Stopped, Start…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esxi-8.lockdown-mode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Enable normal lockdown mode on the ESXi…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lockdownNormal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esxi-8.lockdown-mode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Enable normal lockdown mode on the ESXi…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fu-04.***.***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lockdownNormal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35783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esxi-8.account-password-policies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enforce password com…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fu-05.***.***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"similar=deny 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5783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esxi-8.vib-trusted-binaries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Only run binaries delivered via signed…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fu-05.***.***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Priority Findings (Failed Controls)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Sorted by remediation priority - P0 first  (5/5)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987552"/>
          <a:ext cx="11368731" cy="5367528"/>
        </p:xfrm>
        <a:graphic>
          <a:graphicData uri="http://schemas.openxmlformats.org/drawingml/2006/table">
            <a:tbl>
              <a:tblPr firstRow="0" bandRow="0"/>
              <a:tblGrid>
                <a:gridCol w="1114581"/>
                <a:gridCol w="5127076"/>
                <a:gridCol w="1114581"/>
                <a:gridCol w="1114581"/>
                <a:gridCol w="1337498"/>
                <a:gridCol w="1560414"/>
              </a:tblGrid>
              <a:tr h="107350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SCG ID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Title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Priority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Object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1E3A8A"/>
                    </a:solidFill>
                  </a:tcPr>
                </a:tc>
              </a:tr>
              <a:tr h="107350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esxi-8.logs-audit-remote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transmit audit recor…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fu-05.***.***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07350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esxi-8.memeagerzero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volatile key…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fu-05.***.***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  <a:tr h="1073505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esxi-8.logs-audit-local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enable audit record…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fu-05.***.***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107350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esxi-8.logs-remote-tls-x509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The ESXi host must use strict x509 veri…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DC2626"/>
                          </a:solidFill>
                          <a:latin typeface="Segoe UI"/>
                        </a:rPr>
                        <a:t>P0</a:t>
                      </a:r>
                    </a:p>
                  </a:txBody>
                  <a:tcPr marL="54864" marR="54864" marT="9144" marB="9144" anchor="ctr"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ESXi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fu-05.***.***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54864" marR="54864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Remediation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594360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Distinct P0 (critical priority) findings and suggested remediation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59536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987552"/>
            <a:ext cx="3606698" cy="18461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54864" cy="18461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Segoe UI"/>
              </a:rPr>
              <a:t>esxi-8.account-password-policies - The ESXI host must enforce passwo…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08176"/>
            <a:ext cx="3277514" cy="13340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Affected: 5 object(s), e.g. ESXi / fu-01.***.***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Finding: fu-01.***.***: Security.PasswordQualityControl not configured correctly (retry=…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Remediation: Get-VMHost -Name $ESXi | Get-AdvancedSetting Security.PasswordQualityControl | Set-Advanc…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DISA STIG: ESXI-80-000035
ESXI-80-000044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PCI DSS 4.0: 8.3.1
8.3.6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2498" y="987552"/>
            <a:ext cx="3606698" cy="18461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498" y="987552"/>
            <a:ext cx="54864" cy="18461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7090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Segoe UI"/>
              </a:rPr>
              <a:t>esxi-8.vib-trusted-binaries - Only run binaries delivered via s…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7090" y="1408176"/>
            <a:ext cx="3277514" cy="13340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Affected: 5 object(s), e.g. ESXi / fu-01.***.***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Finding: fu-01.***.***: VMkernel.Boot.execInstalledOnly not configured correctly (False)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Remediation: Get-VMHost -Name $ESXi | Get-AdvancedSetting VMkernel.Boot.execInstalledOnly | Set-Advanc…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DISA STIG: ESXI-80-000244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PCI DSS 4.0: 5.2.3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987552"/>
            <a:ext cx="3606698" cy="18461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3516" y="987552"/>
            <a:ext cx="54864" cy="18461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8108" y="1097280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Segoe UI"/>
              </a:rPr>
              <a:t>esxi-8.memeagerzero - The ESXi host must enable volatil…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8108" y="1408176"/>
            <a:ext cx="3277514" cy="13340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Affected: 5 object(s), e.g. ESXi / fu-01.***.***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Finding: fu-01.***.***: Mem.MemEagerZero not configured correctly (0)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Remediation: Get-VMHost -Name $ESXi | Get-AdvancedSetting Mem.MemEagerZero | Set-AdvancedSetting -Valu…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DISA STIG: ESXI-80-000225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950">
                <a:solidFill>
                  <a:srgbClr val="334155"/>
                </a:solidFill>
                <a:latin typeface="Segoe UI"/>
              </a:rPr>
              <a:t>•  PCI DSS 4.0: 3.6.1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08012"/>
            <a:ext cx="11368735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08012"/>
            <a:ext cx="64008" cy="9144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226884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DC2626"/>
                </a:solidFill>
                <a:latin typeface="Segoe UI"/>
              </a:rPr>
              <a:t>COVERAGE NOTE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473772"/>
            <a:ext cx="10966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60 P0 finding(s) span 14 distinct control(s). 11 additional P0 control(s) are not shown here - see the Priority Findings pages for the full list.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20040"/>
            <a:ext cx="82296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292608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93B"/>
                </a:solidFill>
                <a:latin typeface="Segoe UI"/>
              </a:rP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8368"/>
            <a:ext cx="11368735" cy="1397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786384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786384"/>
            <a:ext cx="54864" cy="1554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96112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1) Remediate P0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207008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217 critical (P0) findings require immediate remediation.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Assign owners per object type (vCenter / ESXi / VM) and track to closure.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2498" y="786384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498" y="786384"/>
            <a:ext cx="54864" cy="15544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7090" y="896112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2) Schedule P1/P2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090" y="1207008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132 P1 and 52 P2 findings can follow in the next maintenance window.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Group by SCG ID to batch similar fixes across objects.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3516" y="786384"/>
            <a:ext cx="3606698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3516" y="786384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8108" y="896112"/>
            <a:ext cx="32775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Segoe UI"/>
              </a:rPr>
              <a:t>3) Re-Baseline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8108" y="1207008"/>
            <a:ext cx="3277514" cy="1042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Current overall pass rate is 60.8%.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000">
                <a:solidFill>
                  <a:srgbClr val="334155"/>
                </a:solidFill>
                <a:latin typeface="Segoe UI"/>
              </a:rPr>
              <a:t>•  Re-run the hardening audit after remediation to confirm improvement and refresh this report.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615184"/>
            <a:ext cx="11368735" cy="10515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615184"/>
            <a:ext cx="64008" cy="10515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734056"/>
            <a:ext cx="2194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30">
                <a:solidFill>
                  <a:srgbClr val="1E293B"/>
                </a:solidFill>
                <a:latin typeface="Segoe UI"/>
              </a:rPr>
              <a:t>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980944"/>
            <a:ext cx="1096639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This summary was generated from Output_20260908_220829. Track remediation progress by comparing it against the results produced the next time menu [3] (vCenter Security Suite) is run (66 object(s) assessed, overall pass rate 60.8%).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28816"/>
            <a:ext cx="113687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83680"/>
            <a:ext cx="9601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Segoe UI"/>
              </a:rPr>
              <a:t>Source: Output_20260908_220829  |  Generated 2026-09-10 17:19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82935" y="6583680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Segoe U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